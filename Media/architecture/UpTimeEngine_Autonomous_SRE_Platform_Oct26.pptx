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2" r:id="rId9"/>
    <p:sldId id="263" r:id="rId10"/>
    <p:sldId id="264" r:id="rId11"/>
    <p:sldId id="265" r:id="rId12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236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E13C5-66C3-4C81-84AC-6D653BABEA8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80B63-9F40-41D7-A988-4337B54103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56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g"/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jpg"/><Relationship Id="rId11" Type="http://schemas.openxmlformats.org/officeDocument/2006/relationships/image" Target="../media/image19.jpg"/><Relationship Id="rId5" Type="http://schemas.openxmlformats.org/officeDocument/2006/relationships/image" Target="../media/image13.jpg"/><Relationship Id="rId10" Type="http://schemas.openxmlformats.org/officeDocument/2006/relationships/image" Target="../media/image18.png"/><Relationship Id="rId4" Type="http://schemas.openxmlformats.org/officeDocument/2006/relationships/image" Target="../media/image12.jpg"/><Relationship Id="rId9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162" y="766232"/>
            <a:ext cx="662319" cy="487666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8996" y="2349235"/>
            <a:ext cx="891584" cy="45958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36464" y="5974820"/>
            <a:ext cx="1859589" cy="40851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7200" y="7481225"/>
            <a:ext cx="2088854" cy="14808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946628" y="2604557"/>
            <a:ext cx="687793" cy="71490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545563" y="3804575"/>
            <a:ext cx="2088854" cy="1480872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946628" y="6306739"/>
            <a:ext cx="687793" cy="86809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545563" y="7455693"/>
            <a:ext cx="2088854" cy="150640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150412" y="9472745"/>
            <a:ext cx="1248217" cy="127661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846853" y="766233"/>
            <a:ext cx="0" cy="8195945"/>
          </a:xfrm>
          <a:custGeom>
            <a:avLst/>
            <a:gdLst/>
            <a:ahLst/>
            <a:cxnLst/>
            <a:rect l="l" t="t" r="r" b="b"/>
            <a:pathLst>
              <a:path h="8195945">
                <a:moveTo>
                  <a:pt x="0" y="819586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2394540" y="5745028"/>
            <a:ext cx="0" cy="1327785"/>
          </a:xfrm>
          <a:custGeom>
            <a:avLst/>
            <a:gdLst/>
            <a:ahLst/>
            <a:cxnLst/>
            <a:rect l="l" t="t" r="r" b="b"/>
            <a:pathLst>
              <a:path h="1327784">
                <a:moveTo>
                  <a:pt x="0" y="132767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394540" y="2068379"/>
            <a:ext cx="0" cy="1634489"/>
          </a:xfrm>
          <a:custGeom>
            <a:avLst/>
            <a:gdLst/>
            <a:ahLst/>
            <a:cxnLst/>
            <a:rect l="l" t="t" r="r" b="b"/>
            <a:pathLst>
              <a:path h="1634489">
                <a:moveTo>
                  <a:pt x="0" y="1634066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2394540" y="7711014"/>
            <a:ext cx="0" cy="1225550"/>
          </a:xfrm>
          <a:custGeom>
            <a:avLst/>
            <a:gdLst/>
            <a:ahLst/>
            <a:cxnLst/>
            <a:rect l="l" t="t" r="r" b="b"/>
            <a:pathLst>
              <a:path h="1225550">
                <a:moveTo>
                  <a:pt x="0" y="122554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2394540" y="4570543"/>
            <a:ext cx="0" cy="689610"/>
          </a:xfrm>
          <a:custGeom>
            <a:avLst/>
            <a:gdLst/>
            <a:ahLst/>
            <a:cxnLst/>
            <a:rect l="l" t="t" r="r" b="b"/>
            <a:pathLst>
              <a:path h="689610">
                <a:moveTo>
                  <a:pt x="0" y="68937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9132371" y="7072707"/>
            <a:ext cx="0" cy="408940"/>
          </a:xfrm>
          <a:custGeom>
            <a:avLst/>
            <a:gdLst/>
            <a:ahLst/>
            <a:cxnLst/>
            <a:rect l="l" t="t" r="r" b="b"/>
            <a:pathLst>
              <a:path h="408940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9145108" y="4085430"/>
            <a:ext cx="0" cy="1174750"/>
          </a:xfrm>
          <a:custGeom>
            <a:avLst/>
            <a:gdLst/>
            <a:ahLst/>
            <a:cxnLst/>
            <a:rect l="l" t="t" r="r" b="b"/>
            <a:pathLst>
              <a:path h="1174750">
                <a:moveTo>
                  <a:pt x="0" y="1174485"/>
                </a:moveTo>
                <a:lnTo>
                  <a:pt x="0" y="0"/>
                </a:lnTo>
              </a:path>
            </a:pathLst>
          </a:custGeom>
          <a:ln w="3175">
            <a:solidFill>
              <a:srgbClr val="A7AEB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9629110" y="5745028"/>
            <a:ext cx="0" cy="1225550"/>
          </a:xfrm>
          <a:custGeom>
            <a:avLst/>
            <a:gdLst/>
            <a:ahLst/>
            <a:cxnLst/>
            <a:rect l="l" t="t" r="r" b="b"/>
            <a:pathLst>
              <a:path h="1225550">
                <a:moveTo>
                  <a:pt x="0" y="122554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9629110" y="2068379"/>
            <a:ext cx="0" cy="3166110"/>
          </a:xfrm>
          <a:custGeom>
            <a:avLst/>
            <a:gdLst/>
            <a:ahLst/>
            <a:cxnLst/>
            <a:rect l="l" t="t" r="r" b="b"/>
            <a:pathLst>
              <a:path h="3166110">
                <a:moveTo>
                  <a:pt x="0" y="316600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9629110" y="7838675"/>
            <a:ext cx="0" cy="1097915"/>
          </a:xfrm>
          <a:custGeom>
            <a:avLst/>
            <a:gdLst/>
            <a:ahLst/>
            <a:cxnLst/>
            <a:rect l="l" t="t" r="r" b="b"/>
            <a:pathLst>
              <a:path h="1097915">
                <a:moveTo>
                  <a:pt x="0" y="109788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6570732" y="3396058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9629110" y="2055613"/>
            <a:ext cx="1809114" cy="0"/>
          </a:xfrm>
          <a:custGeom>
            <a:avLst/>
            <a:gdLst/>
            <a:ahLst/>
            <a:cxnLst/>
            <a:rect l="l" t="t" r="r" b="b"/>
            <a:pathLst>
              <a:path w="1809115">
                <a:moveTo>
                  <a:pt x="0" y="0"/>
                </a:moveTo>
                <a:lnTo>
                  <a:pt x="180864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394540" y="2055613"/>
            <a:ext cx="1809114" cy="0"/>
          </a:xfrm>
          <a:custGeom>
            <a:avLst/>
            <a:gdLst/>
            <a:ahLst/>
            <a:cxnLst/>
            <a:rect l="l" t="t" r="r" b="b"/>
            <a:pathLst>
              <a:path w="1809114">
                <a:moveTo>
                  <a:pt x="0" y="0"/>
                </a:moveTo>
                <a:lnTo>
                  <a:pt x="180864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5411671" y="2081145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42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7845942" y="2081145"/>
            <a:ext cx="1197610" cy="0"/>
          </a:xfrm>
          <a:custGeom>
            <a:avLst/>
            <a:gdLst/>
            <a:ahLst/>
            <a:cxnLst/>
            <a:rect l="l" t="t" r="r" b="b"/>
            <a:pathLst>
              <a:path w="1197609">
                <a:moveTo>
                  <a:pt x="0" y="0"/>
                </a:moveTo>
                <a:lnTo>
                  <a:pt x="119727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4978617" y="2362000"/>
            <a:ext cx="840740" cy="0"/>
          </a:xfrm>
          <a:custGeom>
            <a:avLst/>
            <a:gdLst/>
            <a:ahLst/>
            <a:cxnLst/>
            <a:rect l="l" t="t" r="r" b="b"/>
            <a:pathLst>
              <a:path w="840740">
                <a:moveTo>
                  <a:pt x="0" y="0"/>
                </a:moveTo>
                <a:lnTo>
                  <a:pt x="84063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7871416" y="2885412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14800299" y="3076905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7361939" y="3076905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8508262" y="3255630"/>
            <a:ext cx="662940" cy="0"/>
          </a:xfrm>
          <a:custGeom>
            <a:avLst/>
            <a:gdLst/>
            <a:ahLst/>
            <a:cxnLst/>
            <a:rect l="l" t="t" r="r" b="b"/>
            <a:pathLst>
              <a:path w="662940">
                <a:moveTo>
                  <a:pt x="0" y="0"/>
                </a:moveTo>
                <a:lnTo>
                  <a:pt x="66231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998785" y="5234382"/>
            <a:ext cx="1172210" cy="0"/>
          </a:xfrm>
          <a:custGeom>
            <a:avLst/>
            <a:gdLst/>
            <a:ahLst/>
            <a:cxnLst/>
            <a:rect l="l" t="t" r="r" b="b"/>
            <a:pathLst>
              <a:path w="1172209">
                <a:moveTo>
                  <a:pt x="0" y="0"/>
                </a:moveTo>
                <a:lnTo>
                  <a:pt x="1171796" y="0"/>
                </a:lnTo>
              </a:path>
            </a:pathLst>
          </a:custGeom>
          <a:ln w="3175">
            <a:solidFill>
              <a:srgbClr val="999C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2420014" y="5247149"/>
            <a:ext cx="4203700" cy="0"/>
          </a:xfrm>
          <a:custGeom>
            <a:avLst/>
            <a:gdLst/>
            <a:ahLst/>
            <a:cxnLst/>
            <a:rect l="l" t="t" r="r" b="b"/>
            <a:pathLst>
              <a:path w="4203700">
                <a:moveTo>
                  <a:pt x="0" y="0"/>
                </a:moveTo>
                <a:lnTo>
                  <a:pt x="420318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9654585" y="5259915"/>
            <a:ext cx="4458335" cy="0"/>
          </a:xfrm>
          <a:custGeom>
            <a:avLst/>
            <a:gdLst/>
            <a:ahLst/>
            <a:cxnLst/>
            <a:rect l="l" t="t" r="r" b="b"/>
            <a:pathLst>
              <a:path w="4458334">
                <a:moveTo>
                  <a:pt x="0" y="0"/>
                </a:moveTo>
                <a:lnTo>
                  <a:pt x="445792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9629110" y="5732262"/>
            <a:ext cx="2216785" cy="0"/>
          </a:xfrm>
          <a:custGeom>
            <a:avLst/>
            <a:gdLst/>
            <a:ahLst/>
            <a:cxnLst/>
            <a:rect l="l" t="t" r="r" b="b"/>
            <a:pathLst>
              <a:path w="2216784">
                <a:moveTo>
                  <a:pt x="0" y="0"/>
                </a:moveTo>
                <a:lnTo>
                  <a:pt x="221622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2394540" y="5732262"/>
            <a:ext cx="2216785" cy="0"/>
          </a:xfrm>
          <a:custGeom>
            <a:avLst/>
            <a:gdLst/>
            <a:ahLst/>
            <a:cxnLst/>
            <a:rect l="l" t="t" r="r" b="b"/>
            <a:pathLst>
              <a:path w="2216785">
                <a:moveTo>
                  <a:pt x="0" y="0"/>
                </a:moveTo>
                <a:lnTo>
                  <a:pt x="221622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15284302" y="5757794"/>
            <a:ext cx="1248410" cy="0"/>
          </a:xfrm>
          <a:custGeom>
            <a:avLst/>
            <a:gdLst/>
            <a:ahLst/>
            <a:cxnLst/>
            <a:rect l="l" t="t" r="r" b="b"/>
            <a:pathLst>
              <a:path w="1248409">
                <a:moveTo>
                  <a:pt x="0" y="0"/>
                </a:moveTo>
                <a:lnTo>
                  <a:pt x="124821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7794994" y="5757794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5">
                <a:moveTo>
                  <a:pt x="0" y="0"/>
                </a:moveTo>
                <a:lnTo>
                  <a:pt x="132463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14800299" y="6740787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7361939" y="6740787"/>
            <a:ext cx="1121410" cy="0"/>
          </a:xfrm>
          <a:custGeom>
            <a:avLst/>
            <a:gdLst/>
            <a:ahLst/>
            <a:cxnLst/>
            <a:rect l="l" t="t" r="r" b="b"/>
            <a:pathLst>
              <a:path w="1121409">
                <a:moveTo>
                  <a:pt x="0" y="0"/>
                </a:moveTo>
                <a:lnTo>
                  <a:pt x="112084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8508262" y="6932279"/>
            <a:ext cx="662940" cy="0"/>
          </a:xfrm>
          <a:custGeom>
            <a:avLst/>
            <a:gdLst/>
            <a:ahLst/>
            <a:cxnLst/>
            <a:rect l="l" t="t" r="r" b="b"/>
            <a:pathLst>
              <a:path w="662940">
                <a:moveTo>
                  <a:pt x="0" y="0"/>
                </a:moveTo>
                <a:lnTo>
                  <a:pt x="66231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9654585" y="8936563"/>
            <a:ext cx="4432935" cy="0"/>
          </a:xfrm>
          <a:custGeom>
            <a:avLst/>
            <a:gdLst/>
            <a:ahLst/>
            <a:cxnLst/>
            <a:rect l="l" t="t" r="r" b="b"/>
            <a:pathLst>
              <a:path w="4432934">
                <a:moveTo>
                  <a:pt x="0" y="0"/>
                </a:moveTo>
                <a:lnTo>
                  <a:pt x="443244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2420014" y="8936563"/>
            <a:ext cx="4203700" cy="0"/>
          </a:xfrm>
          <a:custGeom>
            <a:avLst/>
            <a:gdLst/>
            <a:ahLst/>
            <a:cxnLst/>
            <a:rect l="l" t="t" r="r" b="b"/>
            <a:pathLst>
              <a:path w="4203700">
                <a:moveTo>
                  <a:pt x="0" y="0"/>
                </a:moveTo>
                <a:lnTo>
                  <a:pt x="420318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3593" y="4162027"/>
            <a:ext cx="738741" cy="43404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3593" y="5285449"/>
            <a:ext cx="738741" cy="6893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09704" y="4162027"/>
            <a:ext cx="2445487" cy="51064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09704" y="5208851"/>
            <a:ext cx="2445487" cy="76596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08035" y="4162027"/>
            <a:ext cx="738741" cy="40851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82561" y="5310981"/>
            <a:ext cx="789688" cy="66383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10614" y="3830108"/>
            <a:ext cx="611372" cy="434048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787871" y="4493948"/>
            <a:ext cx="407581" cy="17872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38810" y="4851400"/>
            <a:ext cx="611372" cy="10212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50412" y="9447212"/>
            <a:ext cx="1248217" cy="153193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891584" y="2068379"/>
            <a:ext cx="0" cy="3472815"/>
          </a:xfrm>
          <a:custGeom>
            <a:avLst/>
            <a:gdLst/>
            <a:ahLst/>
            <a:cxnLst/>
            <a:rect l="l" t="t" r="r" b="b"/>
            <a:pathLst>
              <a:path h="3472815">
                <a:moveTo>
                  <a:pt x="0" y="347239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8750263" y="2042847"/>
            <a:ext cx="0" cy="1404620"/>
          </a:xfrm>
          <a:custGeom>
            <a:avLst/>
            <a:gdLst/>
            <a:ahLst/>
            <a:cxnLst/>
            <a:rect l="l" t="t" r="r" b="b"/>
            <a:pathLst>
              <a:path h="1404620">
                <a:moveTo>
                  <a:pt x="0" y="140427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9527215" y="2068379"/>
            <a:ext cx="2242185" cy="1379220"/>
          </a:xfrm>
          <a:custGeom>
            <a:avLst/>
            <a:gdLst/>
            <a:ahLst/>
            <a:cxnLst/>
            <a:rect l="l" t="t" r="r" b="b"/>
            <a:pathLst>
              <a:path w="2242184" h="1379220">
                <a:moveTo>
                  <a:pt x="12736" y="1378743"/>
                </a:moveTo>
                <a:lnTo>
                  <a:pt x="12736" y="0"/>
                </a:lnTo>
              </a:path>
              <a:path w="2242184" h="1379220">
                <a:moveTo>
                  <a:pt x="0" y="0"/>
                </a:moveTo>
                <a:lnTo>
                  <a:pt x="2241697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891584" y="2068379"/>
            <a:ext cx="1809114" cy="0"/>
          </a:xfrm>
          <a:custGeom>
            <a:avLst/>
            <a:gdLst/>
            <a:ahLst/>
            <a:cxnLst/>
            <a:rect l="l" t="t" r="r" b="b"/>
            <a:pathLst>
              <a:path w="1809114">
                <a:moveTo>
                  <a:pt x="0" y="0"/>
                </a:moveTo>
                <a:lnTo>
                  <a:pt x="180864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6317512" y="3702445"/>
            <a:ext cx="0" cy="306705"/>
          </a:xfrm>
          <a:custGeom>
            <a:avLst/>
            <a:gdLst/>
            <a:ahLst/>
            <a:cxnLst/>
            <a:rect l="l" t="t" r="r" b="b"/>
            <a:pathLst>
              <a:path h="306704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6495828" y="3702445"/>
            <a:ext cx="0" cy="306705"/>
          </a:xfrm>
          <a:custGeom>
            <a:avLst/>
            <a:gdLst/>
            <a:ahLst/>
            <a:cxnLst/>
            <a:rect l="l" t="t" r="r" b="b"/>
            <a:pathLst>
              <a:path h="306704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1183015" y="4315220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4367245" y="4557777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5">
                <a:moveTo>
                  <a:pt x="0" y="0"/>
                </a:moveTo>
                <a:lnTo>
                  <a:pt x="50947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183015" y="4838632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4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743439" y="4979060"/>
            <a:ext cx="2623820" cy="421640"/>
          </a:xfrm>
          <a:custGeom>
            <a:avLst/>
            <a:gdLst/>
            <a:ahLst/>
            <a:cxnLst/>
            <a:rect l="l" t="t" r="r" b="b"/>
            <a:pathLst>
              <a:path w="2623819" h="421639">
                <a:moveTo>
                  <a:pt x="0" y="0"/>
                </a:moveTo>
                <a:lnTo>
                  <a:pt x="2623805" y="0"/>
                </a:lnTo>
              </a:path>
              <a:path w="2623819" h="421639">
                <a:moveTo>
                  <a:pt x="1273691" y="421282"/>
                </a:moveTo>
                <a:lnTo>
                  <a:pt x="1273691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6317512" y="5400342"/>
            <a:ext cx="0" cy="408940"/>
          </a:xfrm>
          <a:custGeom>
            <a:avLst/>
            <a:gdLst/>
            <a:ahLst/>
            <a:cxnLst/>
            <a:rect l="l" t="t" r="r" b="b"/>
            <a:pathLst>
              <a:path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6495828" y="5400342"/>
            <a:ext cx="0" cy="715010"/>
          </a:xfrm>
          <a:custGeom>
            <a:avLst/>
            <a:gdLst/>
            <a:ahLst/>
            <a:cxnLst/>
            <a:rect l="l" t="t" r="r" b="b"/>
            <a:pathLst>
              <a:path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6317512" y="5808859"/>
            <a:ext cx="0" cy="306705"/>
          </a:xfrm>
          <a:custGeom>
            <a:avLst/>
            <a:gdLst/>
            <a:ahLst/>
            <a:cxnLst/>
            <a:rect l="l" t="t" r="r" b="b"/>
            <a:pathLst>
              <a:path h="306704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38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11743439" y="5808859"/>
            <a:ext cx="0" cy="306705"/>
          </a:xfrm>
          <a:custGeom>
            <a:avLst/>
            <a:gdLst/>
            <a:ahLst/>
            <a:cxnLst/>
            <a:rect l="l" t="t" r="r" b="b"/>
            <a:pathLst>
              <a:path h="306704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4367245" y="5808859"/>
            <a:ext cx="0" cy="306705"/>
          </a:xfrm>
          <a:custGeom>
            <a:avLst/>
            <a:gdLst/>
            <a:ahLst/>
            <a:cxnLst/>
            <a:rect l="l" t="t" r="r" b="b"/>
            <a:pathLst>
              <a:path h="306704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6317512" y="6115246"/>
            <a:ext cx="178435" cy="140970"/>
          </a:xfrm>
          <a:custGeom>
            <a:avLst/>
            <a:gdLst/>
            <a:ahLst/>
            <a:cxnLst/>
            <a:rect l="l" t="t" r="r" b="b"/>
            <a:pathLst>
              <a:path w="178435" h="140970">
                <a:moveTo>
                  <a:pt x="0" y="140427"/>
                </a:moveTo>
                <a:lnTo>
                  <a:pt x="0" y="0"/>
                </a:lnTo>
              </a:path>
              <a:path w="178435" h="140970">
                <a:moveTo>
                  <a:pt x="0" y="140427"/>
                </a:moveTo>
                <a:lnTo>
                  <a:pt x="178316" y="140427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1571" y="338634"/>
            <a:ext cx="15872057" cy="170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0" i="0">
                <a:solidFill>
                  <a:srgbClr val="01010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80212" cy="9702535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092151" y="1698227"/>
            <a:ext cx="11476355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200" b="1" spc="-290" dirty="0">
                <a:solidFill>
                  <a:srgbClr val="2A2B2D"/>
                </a:solidFill>
                <a:latin typeface="Arial"/>
                <a:cs typeface="Arial"/>
              </a:rPr>
              <a:t>UpTimeEngine</a:t>
            </a:r>
            <a:endParaRPr sz="7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2666" y="3134420"/>
            <a:ext cx="11055985" cy="1034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ts val="4020"/>
              </a:lnSpc>
              <a:spcBef>
                <a:spcPts val="100"/>
              </a:spcBef>
            </a:pPr>
            <a:r>
              <a:rPr sz="3250" dirty="0">
                <a:solidFill>
                  <a:srgbClr val="2A2B2D"/>
                </a:solidFill>
                <a:latin typeface="Arial"/>
                <a:cs typeface="Arial"/>
              </a:rPr>
              <a:t>Autonomous,</a:t>
            </a:r>
            <a:r>
              <a:rPr sz="3250" spc="110" dirty="0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sz="3250" spc="65" dirty="0">
                <a:solidFill>
                  <a:srgbClr val="2A2B2D"/>
                </a:solidFill>
                <a:latin typeface="Arial"/>
                <a:cs typeface="Arial"/>
              </a:rPr>
              <a:t>memory-</a:t>
            </a:r>
            <a:r>
              <a:rPr sz="3250" spc="55" dirty="0">
                <a:solidFill>
                  <a:srgbClr val="2A2B2D"/>
                </a:solidFill>
                <a:latin typeface="Arial"/>
                <a:cs typeface="Arial"/>
              </a:rPr>
              <a:t>safe</a:t>
            </a:r>
            <a:r>
              <a:rPr sz="3250" spc="15" dirty="0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sz="3250" spc="65" dirty="0">
                <a:solidFill>
                  <a:srgbClr val="2A2B2D"/>
                </a:solidFill>
                <a:latin typeface="Arial"/>
                <a:cs typeface="Arial"/>
              </a:rPr>
              <a:t>incident </a:t>
            </a:r>
            <a:r>
              <a:rPr sz="3250" spc="50" dirty="0">
                <a:solidFill>
                  <a:srgbClr val="2A2B2D"/>
                </a:solidFill>
                <a:latin typeface="Arial"/>
                <a:cs typeface="Arial"/>
              </a:rPr>
              <a:t>triage</a:t>
            </a:r>
            <a:r>
              <a:rPr sz="3250" spc="-85" dirty="0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sz="3250" spc="85" dirty="0">
                <a:solidFill>
                  <a:srgbClr val="2A2B2D"/>
                </a:solidFill>
                <a:latin typeface="Arial"/>
                <a:cs typeface="Arial"/>
              </a:rPr>
              <a:t>and</a:t>
            </a:r>
            <a:r>
              <a:rPr sz="3250" spc="-260" dirty="0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sz="3250" spc="-10" dirty="0">
                <a:solidFill>
                  <a:srgbClr val="2A2B2D"/>
                </a:solidFill>
                <a:latin typeface="Arial"/>
                <a:cs typeface="Arial"/>
              </a:rPr>
              <a:t>remediation </a:t>
            </a:r>
            <a:r>
              <a:rPr sz="3250" dirty="0">
                <a:solidFill>
                  <a:srgbClr val="2A2B2D"/>
                </a:solidFill>
                <a:latin typeface="Arial"/>
                <a:cs typeface="Arial"/>
              </a:rPr>
              <a:t>for</a:t>
            </a:r>
            <a:r>
              <a:rPr sz="3250" spc="55" dirty="0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2A2B2D"/>
                </a:solidFill>
                <a:latin typeface="Arial"/>
                <a:cs typeface="Arial"/>
              </a:rPr>
              <a:t>enterprise</a:t>
            </a:r>
            <a:r>
              <a:rPr sz="3250" spc="260" dirty="0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sz="3250" spc="50" dirty="0">
                <a:solidFill>
                  <a:srgbClr val="2A2B2D"/>
                </a:solidFill>
                <a:latin typeface="Arial"/>
                <a:cs typeface="Arial"/>
              </a:rPr>
              <a:t>infrastructure.</a:t>
            </a:r>
            <a:endParaRPr sz="32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76200" y="1698227"/>
            <a:ext cx="3258185" cy="332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55" dirty="0">
                <a:solidFill>
                  <a:srgbClr val="2A2B2D"/>
                </a:solidFill>
                <a:latin typeface="Arial"/>
                <a:cs typeface="Arial"/>
              </a:rPr>
              <a:t>Status:</a:t>
            </a:r>
            <a:r>
              <a:rPr sz="2000" spc="-130" dirty="0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sz="2000" spc="-85" dirty="0">
                <a:solidFill>
                  <a:srgbClr val="2A2B2D"/>
                </a:solidFill>
                <a:latin typeface="Arial"/>
                <a:cs typeface="Arial"/>
              </a:rPr>
              <a:t>Sandbox</a:t>
            </a:r>
            <a:r>
              <a:rPr sz="2000" spc="-114" dirty="0">
                <a:solidFill>
                  <a:srgbClr val="2A2B2D"/>
                </a:solidFill>
                <a:latin typeface="Arial"/>
                <a:cs typeface="Arial"/>
              </a:rPr>
              <a:t> </a:t>
            </a:r>
            <a:r>
              <a:rPr sz="2000" spc="-30" dirty="0">
                <a:solidFill>
                  <a:srgbClr val="2A2B2D"/>
                </a:solidFill>
                <a:latin typeface="Arial"/>
                <a:cs typeface="Arial"/>
              </a:rPr>
              <a:t>Project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FA9D0370-D9BB-4CEF-9407-B66078FC9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-76200"/>
            <a:ext cx="17475200" cy="9749943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383484" y="510977"/>
            <a:ext cx="6362700" cy="14909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0480" marR="5080" indent="-18415">
              <a:lnSpc>
                <a:spcPts val="5630"/>
              </a:lnSpc>
              <a:spcBef>
                <a:spcPts val="480"/>
              </a:spcBef>
            </a:pPr>
            <a:r>
              <a:rPr sz="4900" b="1" spc="175" dirty="0">
                <a:solidFill>
                  <a:srgbClr val="282A2F"/>
                </a:solidFill>
                <a:latin typeface="Times New Roman"/>
                <a:cs typeface="Times New Roman"/>
              </a:rPr>
              <a:t>A</a:t>
            </a:r>
            <a:r>
              <a:rPr sz="4900" b="1" spc="-200" dirty="0">
                <a:solidFill>
                  <a:srgbClr val="282A2F"/>
                </a:solidFill>
                <a:latin typeface="Times New Roman"/>
                <a:cs typeface="Times New Roman"/>
              </a:rPr>
              <a:t> </a:t>
            </a:r>
            <a:r>
              <a:rPr sz="4900" b="1" dirty="0">
                <a:solidFill>
                  <a:srgbClr val="282A2F"/>
                </a:solidFill>
                <a:latin typeface="Times New Roman"/>
                <a:cs typeface="Times New Roman"/>
              </a:rPr>
              <a:t>Layered,</a:t>
            </a:r>
            <a:r>
              <a:rPr sz="4900" b="1" spc="195" dirty="0">
                <a:solidFill>
                  <a:srgbClr val="282A2F"/>
                </a:solidFill>
                <a:latin typeface="Times New Roman"/>
                <a:cs typeface="Times New Roman"/>
              </a:rPr>
              <a:t> </a:t>
            </a:r>
            <a:r>
              <a:rPr sz="4900" b="1" spc="95" dirty="0">
                <a:solidFill>
                  <a:srgbClr val="282A2F"/>
                </a:solidFill>
                <a:latin typeface="Times New Roman"/>
                <a:cs typeface="Times New Roman"/>
              </a:rPr>
              <a:t>Agentic </a:t>
            </a:r>
            <a:r>
              <a:rPr sz="4900" b="1" spc="120" dirty="0">
                <a:solidFill>
                  <a:srgbClr val="282A2F"/>
                </a:solidFill>
                <a:latin typeface="Times New Roman"/>
                <a:cs typeface="Times New Roman"/>
              </a:rPr>
              <a:t>Investigation</a:t>
            </a:r>
            <a:r>
              <a:rPr sz="4900" b="1" spc="220" dirty="0">
                <a:solidFill>
                  <a:srgbClr val="282A2F"/>
                </a:solidFill>
                <a:latin typeface="Times New Roman"/>
                <a:cs typeface="Times New Roman"/>
              </a:rPr>
              <a:t> </a:t>
            </a:r>
            <a:r>
              <a:rPr sz="4900" b="1" spc="60" dirty="0">
                <a:solidFill>
                  <a:srgbClr val="282A2F"/>
                </a:solidFill>
                <a:latin typeface="Times New Roman"/>
                <a:cs typeface="Times New Roman"/>
              </a:rPr>
              <a:t>Platform</a:t>
            </a:r>
            <a:endParaRPr sz="4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91584" cy="745569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84910" y="1864121"/>
            <a:ext cx="5578770" cy="114895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13798" y="1864121"/>
            <a:ext cx="0" cy="6970395"/>
          </a:xfrm>
          <a:custGeom>
            <a:avLst/>
            <a:gdLst/>
            <a:ahLst/>
            <a:cxnLst/>
            <a:rect l="l" t="t" r="r" b="b"/>
            <a:pathLst>
              <a:path h="6970395">
                <a:moveTo>
                  <a:pt x="0" y="697031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04775" y="1864121"/>
            <a:ext cx="0" cy="6970395"/>
          </a:xfrm>
          <a:custGeom>
            <a:avLst/>
            <a:gdLst/>
            <a:ahLst/>
            <a:cxnLst/>
            <a:rect l="l" t="t" r="r" b="b"/>
            <a:pathLst>
              <a:path h="6970395">
                <a:moveTo>
                  <a:pt x="0" y="697031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10384" y="3013074"/>
            <a:ext cx="0" cy="5821680"/>
          </a:xfrm>
          <a:custGeom>
            <a:avLst/>
            <a:gdLst/>
            <a:ahLst/>
            <a:cxnLst/>
            <a:rect l="l" t="t" r="r" b="b"/>
            <a:pathLst>
              <a:path h="5821680">
                <a:moveTo>
                  <a:pt x="0" y="582136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812733" y="3013074"/>
            <a:ext cx="0" cy="5821680"/>
          </a:xfrm>
          <a:custGeom>
            <a:avLst/>
            <a:gdLst/>
            <a:ahLst/>
            <a:cxnLst/>
            <a:rect l="l" t="t" r="r" b="b"/>
            <a:pathLst>
              <a:path h="5821680">
                <a:moveTo>
                  <a:pt x="0" y="582136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01061" y="1876887"/>
            <a:ext cx="9884410" cy="0"/>
          </a:xfrm>
          <a:custGeom>
            <a:avLst/>
            <a:gdLst/>
            <a:ahLst/>
            <a:cxnLst/>
            <a:rect l="l" t="t" r="r" b="b"/>
            <a:pathLst>
              <a:path w="9884410">
                <a:moveTo>
                  <a:pt x="0" y="0"/>
                </a:moveTo>
                <a:lnTo>
                  <a:pt x="988384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01061" y="2974775"/>
            <a:ext cx="9884410" cy="0"/>
          </a:xfrm>
          <a:custGeom>
            <a:avLst/>
            <a:gdLst/>
            <a:ahLst/>
            <a:cxnLst/>
            <a:rect l="l" t="t" r="r" b="b"/>
            <a:pathLst>
              <a:path w="9884410">
                <a:moveTo>
                  <a:pt x="0" y="0"/>
                </a:moveTo>
                <a:lnTo>
                  <a:pt x="988384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01061" y="4136494"/>
            <a:ext cx="15462885" cy="0"/>
          </a:xfrm>
          <a:custGeom>
            <a:avLst/>
            <a:gdLst/>
            <a:ahLst/>
            <a:cxnLst/>
            <a:rect l="l" t="t" r="r" b="b"/>
            <a:pathLst>
              <a:path w="15462885">
                <a:moveTo>
                  <a:pt x="9883849" y="0"/>
                </a:moveTo>
                <a:lnTo>
                  <a:pt x="15462620" y="0"/>
                </a:lnTo>
              </a:path>
              <a:path w="15462885">
                <a:moveTo>
                  <a:pt x="0" y="0"/>
                </a:moveTo>
                <a:lnTo>
                  <a:pt x="9858375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401061" y="5310979"/>
            <a:ext cx="15462885" cy="0"/>
          </a:xfrm>
          <a:custGeom>
            <a:avLst/>
            <a:gdLst/>
            <a:ahLst/>
            <a:cxnLst/>
            <a:rect l="l" t="t" r="r" b="b"/>
            <a:pathLst>
              <a:path w="15462885">
                <a:moveTo>
                  <a:pt x="0" y="0"/>
                </a:moveTo>
                <a:lnTo>
                  <a:pt x="1546262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401061" y="6472698"/>
            <a:ext cx="15462885" cy="0"/>
          </a:xfrm>
          <a:custGeom>
            <a:avLst/>
            <a:gdLst/>
            <a:ahLst/>
            <a:cxnLst/>
            <a:rect l="l" t="t" r="r" b="b"/>
            <a:pathLst>
              <a:path w="15462885">
                <a:moveTo>
                  <a:pt x="0" y="0"/>
                </a:moveTo>
                <a:lnTo>
                  <a:pt x="1546262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01061" y="7647183"/>
            <a:ext cx="15462885" cy="0"/>
          </a:xfrm>
          <a:custGeom>
            <a:avLst/>
            <a:gdLst/>
            <a:ahLst/>
            <a:cxnLst/>
            <a:rect l="l" t="t" r="r" b="b"/>
            <a:pathLst>
              <a:path w="15462885">
                <a:moveTo>
                  <a:pt x="0" y="0"/>
                </a:moveTo>
                <a:lnTo>
                  <a:pt x="1546262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01061" y="8808902"/>
            <a:ext cx="15437485" cy="0"/>
          </a:xfrm>
          <a:custGeom>
            <a:avLst/>
            <a:gdLst/>
            <a:ahLst/>
            <a:cxnLst/>
            <a:rect l="l" t="t" r="r" b="b"/>
            <a:pathLst>
              <a:path w="15437485">
                <a:moveTo>
                  <a:pt x="0" y="0"/>
                </a:moveTo>
                <a:lnTo>
                  <a:pt x="1543714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7366" rIns="0" bIns="0" rtlCol="0">
            <a:spAutoFit/>
          </a:bodyPr>
          <a:lstStyle/>
          <a:p>
            <a:pPr marL="589915">
              <a:lnSpc>
                <a:spcPct val="100000"/>
              </a:lnSpc>
              <a:spcBef>
                <a:spcPts val="125"/>
              </a:spcBef>
            </a:pPr>
            <a:r>
              <a:rPr sz="4850" b="1" spc="100" dirty="0">
                <a:solidFill>
                  <a:srgbClr val="2A2F36"/>
                </a:solidFill>
                <a:latin typeface="Times New Roman"/>
                <a:cs typeface="Times New Roman"/>
              </a:rPr>
              <a:t>The</a:t>
            </a:r>
            <a:r>
              <a:rPr sz="4850" b="1" spc="40" dirty="0">
                <a:solidFill>
                  <a:srgbClr val="2A2F36"/>
                </a:solidFill>
                <a:latin typeface="Times New Roman"/>
                <a:cs typeface="Times New Roman"/>
              </a:rPr>
              <a:t> </a:t>
            </a:r>
            <a:r>
              <a:rPr sz="4850" b="1" dirty="0">
                <a:solidFill>
                  <a:srgbClr val="2A2F36"/>
                </a:solidFill>
                <a:latin typeface="Times New Roman"/>
                <a:cs typeface="Times New Roman"/>
              </a:rPr>
              <a:t>Operator</a:t>
            </a:r>
            <a:r>
              <a:rPr sz="4850" b="1" spc="85" dirty="0">
                <a:solidFill>
                  <a:srgbClr val="2A2F36"/>
                </a:solidFill>
                <a:latin typeface="Times New Roman"/>
                <a:cs typeface="Times New Roman"/>
              </a:rPr>
              <a:t> </a:t>
            </a:r>
            <a:r>
              <a:rPr sz="4850" b="1" spc="140" dirty="0">
                <a:solidFill>
                  <a:srgbClr val="2A2F36"/>
                </a:solidFill>
                <a:latin typeface="Times New Roman"/>
                <a:cs typeface="Times New Roman"/>
              </a:rPr>
              <a:t>Mode</a:t>
            </a:r>
            <a:r>
              <a:rPr sz="4850" b="1" spc="90" dirty="0">
                <a:solidFill>
                  <a:srgbClr val="2A2F36"/>
                </a:solidFill>
                <a:latin typeface="Times New Roman"/>
                <a:cs typeface="Times New Roman"/>
              </a:rPr>
              <a:t> </a:t>
            </a:r>
            <a:r>
              <a:rPr sz="4850" b="1" spc="40" dirty="0">
                <a:solidFill>
                  <a:srgbClr val="2A2F36"/>
                </a:solidFill>
                <a:latin typeface="Times New Roman"/>
                <a:cs typeface="Times New Roman"/>
              </a:rPr>
              <a:t>Paradigm</a:t>
            </a:r>
            <a:endParaRPr sz="48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63792" y="2176958"/>
            <a:ext cx="1889760" cy="4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b="1" spc="-105" dirty="0">
                <a:solidFill>
                  <a:srgbClr val="414850"/>
                </a:solidFill>
                <a:latin typeface="Arial"/>
                <a:cs typeface="Arial"/>
              </a:rPr>
              <a:t>Dimension</a:t>
            </a:r>
            <a:endParaRPr sz="3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60586" y="2176958"/>
            <a:ext cx="4025265" cy="4927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50" b="1" spc="-100" dirty="0">
                <a:solidFill>
                  <a:srgbClr val="414850"/>
                </a:solidFill>
                <a:latin typeface="Arial"/>
                <a:cs typeface="Arial"/>
              </a:rPr>
              <a:t>Standard</a:t>
            </a:r>
            <a:r>
              <a:rPr sz="3050" b="1" spc="-65" dirty="0">
                <a:solidFill>
                  <a:srgbClr val="414850"/>
                </a:solidFill>
                <a:latin typeface="Arial"/>
                <a:cs typeface="Arial"/>
              </a:rPr>
              <a:t> </a:t>
            </a:r>
            <a:r>
              <a:rPr sz="3050" b="1" dirty="0">
                <a:solidFill>
                  <a:srgbClr val="414850"/>
                </a:solidFill>
                <a:latin typeface="Arial"/>
                <a:cs typeface="Arial"/>
              </a:rPr>
              <a:t>Al</a:t>
            </a:r>
            <a:r>
              <a:rPr sz="3050" b="1" spc="-215" dirty="0">
                <a:solidFill>
                  <a:srgbClr val="414850"/>
                </a:solidFill>
                <a:latin typeface="Arial"/>
                <a:cs typeface="Arial"/>
              </a:rPr>
              <a:t> </a:t>
            </a:r>
            <a:r>
              <a:rPr sz="3050" b="1" spc="-85" dirty="0">
                <a:solidFill>
                  <a:srgbClr val="414850"/>
                </a:solidFill>
                <a:latin typeface="Arial"/>
                <a:cs typeface="Arial"/>
              </a:rPr>
              <a:t>Assistants</a:t>
            </a:r>
            <a:endParaRPr sz="30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9532" y="3351443"/>
            <a:ext cx="106616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85" dirty="0">
                <a:solidFill>
                  <a:srgbClr val="070808"/>
                </a:solidFill>
                <a:latin typeface="Arial"/>
                <a:cs typeface="Arial"/>
              </a:rPr>
              <a:t>Trigger</a:t>
            </a:r>
            <a:endParaRPr sz="25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66723" y="3370592"/>
            <a:ext cx="390144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181818"/>
                </a:solidFill>
                <a:latin typeface="Arial"/>
                <a:cs typeface="Arial"/>
              </a:rPr>
              <a:t>Waits</a:t>
            </a:r>
            <a:r>
              <a:rPr sz="2400" spc="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81818"/>
                </a:solidFill>
                <a:latin typeface="Arial"/>
                <a:cs typeface="Arial"/>
              </a:rPr>
              <a:t>for</a:t>
            </a:r>
            <a:r>
              <a:rPr sz="2400" spc="34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65" dirty="0">
                <a:solidFill>
                  <a:srgbClr val="181818"/>
                </a:solidFill>
                <a:latin typeface="Arial"/>
                <a:cs typeface="Arial"/>
              </a:rPr>
              <a:t>human</a:t>
            </a:r>
            <a:r>
              <a:rPr sz="2400" spc="4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181818"/>
                </a:solidFill>
                <a:latin typeface="Arial"/>
                <a:cs typeface="Arial"/>
              </a:rPr>
              <a:t>invocation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64690" y="3125482"/>
            <a:ext cx="3843654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700"/>
              </a:lnSpc>
              <a:spcBef>
                <a:spcPts val="95"/>
              </a:spcBef>
            </a:pPr>
            <a:r>
              <a:rPr sz="2400" dirty="0">
                <a:solidFill>
                  <a:srgbClr val="181818"/>
                </a:solidFill>
                <a:latin typeface="Arial"/>
                <a:cs typeface="Arial"/>
              </a:rPr>
              <a:t>Proactive</a:t>
            </a:r>
            <a:r>
              <a:rPr sz="2400" spc="26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155" dirty="0">
                <a:solidFill>
                  <a:srgbClr val="181818"/>
                </a:solidFill>
                <a:latin typeface="Arial"/>
                <a:cs typeface="Arial"/>
              </a:rPr>
              <a:t>24/7</a:t>
            </a:r>
            <a:r>
              <a:rPr sz="2400" spc="-2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"/>
                <a:cs typeface="Arial"/>
              </a:rPr>
              <a:t>background </a:t>
            </a:r>
            <a:r>
              <a:rPr sz="2400" spc="40" dirty="0">
                <a:solidFill>
                  <a:srgbClr val="181818"/>
                </a:solidFill>
                <a:latin typeface="Arial"/>
                <a:cs typeface="Arial"/>
              </a:rPr>
              <a:t>execution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55705" y="4513163"/>
            <a:ext cx="141414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75" dirty="0">
                <a:solidFill>
                  <a:srgbClr val="070808"/>
                </a:solidFill>
                <a:latin typeface="Arial"/>
                <a:cs typeface="Arial"/>
              </a:rPr>
              <a:t>Detection</a:t>
            </a:r>
            <a:endParaRPr sz="2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59590" y="4532312"/>
            <a:ext cx="366077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070808"/>
                </a:solidFill>
                <a:latin typeface="Arial"/>
                <a:cs typeface="Arial"/>
              </a:rPr>
              <a:t>Delayed</a:t>
            </a:r>
            <a:r>
              <a:rPr sz="2400" spc="20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181818"/>
                </a:solidFill>
                <a:latin typeface="Arial"/>
                <a:cs typeface="Arial"/>
              </a:rPr>
              <a:t>until</a:t>
            </a:r>
            <a:r>
              <a:rPr sz="2400" spc="-10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70808"/>
                </a:solidFill>
                <a:latin typeface="Arial"/>
                <a:cs typeface="Arial"/>
              </a:rPr>
              <a:t>user</a:t>
            </a:r>
            <a:r>
              <a:rPr sz="2400" spc="30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spc="75" dirty="0">
                <a:solidFill>
                  <a:srgbClr val="181818"/>
                </a:solidFill>
                <a:latin typeface="Arial"/>
                <a:cs typeface="Arial"/>
              </a:rPr>
              <a:t>notices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61939" y="4287203"/>
            <a:ext cx="431228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 marR="5080" indent="-6985">
              <a:lnSpc>
                <a:spcPct val="111700"/>
              </a:lnSpc>
              <a:spcBef>
                <a:spcPts val="95"/>
              </a:spcBef>
            </a:pPr>
            <a:r>
              <a:rPr sz="2400" spc="70" dirty="0">
                <a:solidFill>
                  <a:srgbClr val="181818"/>
                </a:solidFill>
                <a:latin typeface="Arial"/>
                <a:cs typeface="Arial"/>
              </a:rPr>
              <a:t>Spots</a:t>
            </a:r>
            <a:r>
              <a:rPr sz="2400" spc="17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70808"/>
                </a:solidFill>
                <a:latin typeface="Arial"/>
                <a:cs typeface="Arial"/>
              </a:rPr>
              <a:t>deployment</a:t>
            </a:r>
            <a:r>
              <a:rPr sz="2400" spc="325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"/>
                <a:cs typeface="Arial"/>
              </a:rPr>
              <a:t>regressions </a:t>
            </a:r>
            <a:r>
              <a:rPr sz="2400" spc="55" dirty="0">
                <a:solidFill>
                  <a:srgbClr val="181818"/>
                </a:solidFill>
                <a:latin typeface="Arial"/>
                <a:cs typeface="Arial"/>
              </a:rPr>
              <a:t>instantly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64149" y="5687648"/>
            <a:ext cx="2631440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110" dirty="0">
                <a:solidFill>
                  <a:srgbClr val="070808"/>
                </a:solidFill>
                <a:latin typeface="Arial"/>
                <a:cs typeface="Arial"/>
              </a:rPr>
              <a:t>Context</a:t>
            </a:r>
            <a:r>
              <a:rPr sz="2550" b="1" spc="-35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550" b="1" spc="-105" dirty="0">
                <a:solidFill>
                  <a:srgbClr val="070808"/>
                </a:solidFill>
                <a:latin typeface="Arial"/>
                <a:cs typeface="Arial"/>
              </a:rPr>
              <a:t>Gathering</a:t>
            </a:r>
            <a:endParaRPr sz="2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60813" y="5706798"/>
            <a:ext cx="3435350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spc="80" dirty="0">
                <a:solidFill>
                  <a:srgbClr val="070808"/>
                </a:solidFill>
                <a:latin typeface="Arial"/>
                <a:cs typeface="Arial"/>
              </a:rPr>
              <a:t>Limited</a:t>
            </a:r>
            <a:r>
              <a:rPr sz="2400" spc="-80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070808"/>
                </a:solidFill>
                <a:latin typeface="Arial"/>
                <a:cs typeface="Arial"/>
              </a:rPr>
              <a:t>by</a:t>
            </a:r>
            <a:r>
              <a:rPr sz="2400" spc="-85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spc="70" dirty="0">
                <a:solidFill>
                  <a:srgbClr val="070808"/>
                </a:solidFill>
                <a:latin typeface="Arial"/>
                <a:cs typeface="Arial"/>
              </a:rPr>
              <a:t>initial</a:t>
            </a:r>
            <a:r>
              <a:rPr sz="2400" spc="-114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spc="80" dirty="0">
                <a:solidFill>
                  <a:srgbClr val="181818"/>
                </a:solidFill>
                <a:latin typeface="Arial"/>
                <a:cs typeface="Arial"/>
              </a:rPr>
              <a:t>prompt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65199" y="5694032"/>
            <a:ext cx="500189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070808"/>
                </a:solidFill>
                <a:latin typeface="Arial"/>
                <a:cs typeface="Arial"/>
              </a:rPr>
              <a:t>Deep</a:t>
            </a:r>
            <a:r>
              <a:rPr sz="2400" dirty="0">
                <a:solidFill>
                  <a:srgbClr val="2A2F36"/>
                </a:solidFill>
                <a:latin typeface="Arial"/>
                <a:cs typeface="Arial"/>
              </a:rPr>
              <a:t>,</a:t>
            </a:r>
            <a:r>
              <a:rPr sz="2400" spc="-160" dirty="0">
                <a:solidFill>
                  <a:srgbClr val="2A2F36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070808"/>
                </a:solidFill>
                <a:latin typeface="Arial"/>
                <a:cs typeface="Arial"/>
              </a:rPr>
              <a:t>iterative</a:t>
            </a:r>
            <a:r>
              <a:rPr sz="2400" spc="114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70808"/>
                </a:solidFill>
                <a:latin typeface="Arial"/>
                <a:cs typeface="Arial"/>
              </a:rPr>
              <a:t>live</a:t>
            </a:r>
            <a:r>
              <a:rPr sz="2400" dirty="0">
                <a:solidFill>
                  <a:srgbClr val="2A2F36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181818"/>
                </a:solidFill>
                <a:latin typeface="Arial"/>
                <a:cs typeface="Arial"/>
              </a:rPr>
              <a:t>system</a:t>
            </a:r>
            <a:r>
              <a:rPr sz="2400" spc="19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"/>
                <a:cs typeface="Arial"/>
              </a:rPr>
              <a:t>querying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55705" y="6849367"/>
            <a:ext cx="1435735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120" dirty="0">
                <a:solidFill>
                  <a:srgbClr val="070808"/>
                </a:solidFill>
                <a:latin typeface="Arial"/>
                <a:cs typeface="Arial"/>
              </a:rPr>
              <a:t>Execution</a:t>
            </a:r>
            <a:endParaRPr sz="25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56329" y="6868517"/>
            <a:ext cx="326326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181818"/>
                </a:solidFill>
                <a:latin typeface="Arial"/>
                <a:cs typeface="Arial"/>
              </a:rPr>
              <a:t>Suggests</a:t>
            </a:r>
            <a:r>
              <a:rPr sz="2400" spc="26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070808"/>
                </a:solidFill>
                <a:latin typeface="Arial"/>
                <a:cs typeface="Arial"/>
              </a:rPr>
              <a:t>passive</a:t>
            </a:r>
            <a:r>
              <a:rPr sz="2400" spc="70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spc="45" dirty="0">
                <a:solidFill>
                  <a:srgbClr val="181818"/>
                </a:solidFill>
                <a:latin typeface="Arial"/>
                <a:cs typeface="Arial"/>
              </a:rPr>
              <a:t>fixes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463732" y="6623406"/>
            <a:ext cx="5083175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 marR="5080" indent="-2540">
              <a:lnSpc>
                <a:spcPct val="111700"/>
              </a:lnSpc>
              <a:spcBef>
                <a:spcPts val="95"/>
              </a:spcBef>
            </a:pPr>
            <a:r>
              <a:rPr sz="2400" spc="55" dirty="0">
                <a:solidFill>
                  <a:srgbClr val="181818"/>
                </a:solidFill>
                <a:latin typeface="Arial"/>
                <a:cs typeface="Arial"/>
              </a:rPr>
              <a:t>Applies</a:t>
            </a:r>
            <a:r>
              <a:rPr sz="2400" spc="10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181818"/>
                </a:solidFill>
                <a:latin typeface="Arial"/>
                <a:cs typeface="Arial"/>
              </a:rPr>
              <a:t>fixes</a:t>
            </a:r>
            <a:r>
              <a:rPr sz="2400" spc="-2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181818"/>
                </a:solidFill>
                <a:latin typeface="Arial"/>
                <a:cs typeface="Arial"/>
              </a:rPr>
              <a:t>and</a:t>
            </a:r>
            <a:r>
              <a:rPr sz="2400" spc="-12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65" dirty="0">
                <a:solidFill>
                  <a:srgbClr val="181818"/>
                </a:solidFill>
                <a:latin typeface="Arial"/>
                <a:cs typeface="Arial"/>
              </a:rPr>
              <a:t>opens</a:t>
            </a:r>
            <a:r>
              <a:rPr sz="2400" spc="-30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81818"/>
                </a:solidFill>
                <a:latin typeface="Arial"/>
                <a:cs typeface="Arial"/>
              </a:rPr>
              <a:t>GitHub</a:t>
            </a:r>
            <a:r>
              <a:rPr sz="2400" spc="3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070808"/>
                </a:solidFill>
                <a:latin typeface="Arial"/>
                <a:cs typeface="Arial"/>
              </a:rPr>
              <a:t>PRs </a:t>
            </a:r>
            <a:r>
              <a:rPr sz="2400" spc="45" dirty="0">
                <a:solidFill>
                  <a:srgbClr val="070808"/>
                </a:solidFill>
                <a:latin typeface="Arial"/>
                <a:cs typeface="Arial"/>
              </a:rPr>
              <a:t>directly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66678" y="8011087"/>
            <a:ext cx="1785620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550" b="1" spc="-100" dirty="0">
                <a:solidFill>
                  <a:srgbClr val="070808"/>
                </a:solidFill>
                <a:latin typeface="Arial"/>
                <a:cs typeface="Arial"/>
              </a:rPr>
              <a:t>Architecture</a:t>
            </a:r>
            <a:endParaRPr sz="25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56329" y="8030236"/>
            <a:ext cx="2564765" cy="3930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181818"/>
                </a:solidFill>
                <a:latin typeface="Arial"/>
                <a:cs typeface="Arial"/>
              </a:rPr>
              <a:t>Stateless</a:t>
            </a:r>
            <a:r>
              <a:rPr sz="2400" spc="465" dirty="0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81818"/>
                </a:solidFill>
                <a:latin typeface="Arial"/>
                <a:cs typeface="Arial"/>
              </a:rPr>
              <a:t>wrapper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463773" y="7785125"/>
            <a:ext cx="5048250" cy="8426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540">
              <a:lnSpc>
                <a:spcPct val="111700"/>
              </a:lnSpc>
              <a:spcBef>
                <a:spcPts val="95"/>
              </a:spcBef>
            </a:pPr>
            <a:r>
              <a:rPr sz="2400" dirty="0">
                <a:solidFill>
                  <a:srgbClr val="070808"/>
                </a:solidFill>
                <a:latin typeface="Arial"/>
                <a:cs typeface="Arial"/>
              </a:rPr>
              <a:t>Kubernetes</a:t>
            </a:r>
            <a:r>
              <a:rPr sz="2400" dirty="0">
                <a:solidFill>
                  <a:srgbClr val="2A2F36"/>
                </a:solidFill>
                <a:latin typeface="Arial"/>
                <a:cs typeface="Arial"/>
              </a:rPr>
              <a:t>-</a:t>
            </a:r>
            <a:r>
              <a:rPr sz="2400" dirty="0">
                <a:solidFill>
                  <a:srgbClr val="070808"/>
                </a:solidFill>
                <a:latin typeface="Arial"/>
                <a:cs typeface="Arial"/>
              </a:rPr>
              <a:t>native</a:t>
            </a:r>
            <a:r>
              <a:rPr sz="2400" spc="170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070808"/>
                </a:solidFill>
                <a:latin typeface="Arial"/>
                <a:cs typeface="Arial"/>
              </a:rPr>
              <a:t>persistent</a:t>
            </a:r>
            <a:r>
              <a:rPr sz="2400" spc="395" dirty="0">
                <a:solidFill>
                  <a:srgbClr val="070808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181818"/>
                </a:solidFill>
                <a:latin typeface="Arial"/>
                <a:cs typeface="Arial"/>
              </a:rPr>
              <a:t>health checks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4031" y="2144976"/>
            <a:ext cx="6928883" cy="674052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52289" y="562041"/>
            <a:ext cx="9423400" cy="914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800" b="1" spc="-140" dirty="0">
                <a:solidFill>
                  <a:srgbClr val="131618"/>
                </a:solidFill>
                <a:latin typeface="Times New Roman"/>
                <a:cs typeface="Times New Roman"/>
              </a:rPr>
              <a:t>The</a:t>
            </a:r>
            <a:r>
              <a:rPr sz="5800" b="1" spc="-360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5800" b="1" spc="-130" dirty="0">
                <a:solidFill>
                  <a:srgbClr val="131618"/>
                </a:solidFill>
                <a:latin typeface="Times New Roman"/>
                <a:cs typeface="Times New Roman"/>
              </a:rPr>
              <a:t>Agentic</a:t>
            </a:r>
            <a:r>
              <a:rPr sz="5800" b="1" spc="-235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5800" b="1" spc="-110" dirty="0">
                <a:solidFill>
                  <a:srgbClr val="131618"/>
                </a:solidFill>
                <a:latin typeface="Times New Roman"/>
                <a:cs typeface="Times New Roman"/>
              </a:rPr>
              <a:t>Investigation</a:t>
            </a:r>
            <a:r>
              <a:rPr sz="5800" b="1" spc="-155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5800" b="1" spc="-160" dirty="0">
                <a:solidFill>
                  <a:srgbClr val="131618"/>
                </a:solidFill>
                <a:latin typeface="Times New Roman"/>
                <a:cs typeface="Times New Roman"/>
              </a:rPr>
              <a:t>Loop</a:t>
            </a:r>
            <a:endParaRPr sz="5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554" y="2368449"/>
            <a:ext cx="3840479" cy="218313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4130" marR="12065" indent="-11430">
              <a:lnSpc>
                <a:spcPts val="3520"/>
              </a:lnSpc>
              <a:spcBef>
                <a:spcPts val="550"/>
              </a:spcBef>
            </a:pPr>
            <a:r>
              <a:rPr sz="3250" b="1" spc="-105" dirty="0">
                <a:solidFill>
                  <a:srgbClr val="282828"/>
                </a:solidFill>
                <a:latin typeface="Times New Roman"/>
                <a:cs typeface="Times New Roman"/>
              </a:rPr>
              <a:t>Step</a:t>
            </a:r>
            <a:r>
              <a:rPr sz="3250" b="1" spc="-315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3250" b="1" spc="-340" dirty="0">
                <a:solidFill>
                  <a:srgbClr val="131618"/>
                </a:solidFill>
                <a:latin typeface="Times New Roman"/>
                <a:cs typeface="Times New Roman"/>
              </a:rPr>
              <a:t>1:</a:t>
            </a:r>
            <a:r>
              <a:rPr sz="3250" b="1" spc="-240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3250" b="1" spc="-55" dirty="0">
                <a:solidFill>
                  <a:srgbClr val="282828"/>
                </a:solidFill>
                <a:latin typeface="Times New Roman"/>
                <a:cs typeface="Times New Roman"/>
              </a:rPr>
              <a:t>Construct </a:t>
            </a:r>
            <a:r>
              <a:rPr sz="3250" b="1" spc="-185" dirty="0">
                <a:solidFill>
                  <a:srgbClr val="131618"/>
                </a:solidFill>
                <a:latin typeface="Times New Roman"/>
                <a:cs typeface="Times New Roman"/>
              </a:rPr>
              <a:t>Prompt</a:t>
            </a:r>
            <a:r>
              <a:rPr sz="3250" b="1" spc="-114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3200" b="1" spc="-400" dirty="0">
                <a:solidFill>
                  <a:srgbClr val="282828"/>
                </a:solidFill>
                <a:latin typeface="Times New Roman"/>
                <a:cs typeface="Times New Roman"/>
              </a:rPr>
              <a:t>&amp;</a:t>
            </a:r>
            <a:r>
              <a:rPr sz="3200" b="1" spc="-18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3250" b="1" spc="-229" dirty="0">
                <a:solidFill>
                  <a:srgbClr val="131618"/>
                </a:solidFill>
                <a:latin typeface="Times New Roman"/>
                <a:cs typeface="Times New Roman"/>
              </a:rPr>
              <a:t>Load</a:t>
            </a:r>
            <a:r>
              <a:rPr sz="3250" b="1" spc="-210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3250" b="1" spc="-155" dirty="0">
                <a:solidFill>
                  <a:srgbClr val="131618"/>
                </a:solidFill>
                <a:latin typeface="Times New Roman"/>
                <a:cs typeface="Times New Roman"/>
              </a:rPr>
              <a:t>Catalog</a:t>
            </a:r>
            <a:endParaRPr sz="3250" dirty="0">
              <a:latin typeface="Times New Roman"/>
              <a:cs typeface="Times New Roman"/>
            </a:endParaRPr>
          </a:p>
          <a:p>
            <a:pPr marL="15875" marR="5080" indent="-3810">
              <a:lnSpc>
                <a:spcPct val="104200"/>
              </a:lnSpc>
              <a:spcBef>
                <a:spcPts val="1050"/>
              </a:spcBef>
            </a:pPr>
            <a:r>
              <a:rPr sz="2250" spc="-55" dirty="0">
                <a:solidFill>
                  <a:srgbClr val="282828"/>
                </a:solidFill>
                <a:latin typeface="Arial"/>
                <a:cs typeface="Arial"/>
              </a:rPr>
              <a:t>Dynamic</a:t>
            </a:r>
            <a:r>
              <a:rPr sz="2250" spc="1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55" dirty="0">
                <a:solidFill>
                  <a:srgbClr val="282828"/>
                </a:solidFill>
                <a:latin typeface="Arial"/>
                <a:cs typeface="Arial"/>
              </a:rPr>
              <a:t>evaluation</a:t>
            </a:r>
            <a:r>
              <a:rPr sz="2250" spc="-8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82828"/>
                </a:solidFill>
                <a:latin typeface="Arial"/>
                <a:cs typeface="Arial"/>
              </a:rPr>
              <a:t>of</a:t>
            </a:r>
            <a:r>
              <a:rPr sz="2250" spc="-10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82828"/>
                </a:solidFill>
                <a:latin typeface="Arial"/>
                <a:cs typeface="Arial"/>
              </a:rPr>
              <a:t>available </a:t>
            </a:r>
            <a:r>
              <a:rPr sz="2250" dirty="0">
                <a:solidFill>
                  <a:srgbClr val="282828"/>
                </a:solidFill>
                <a:latin typeface="Arial"/>
                <a:cs typeface="Arial"/>
              </a:rPr>
              <a:t>built-in</a:t>
            </a:r>
            <a:r>
              <a:rPr sz="2250" spc="-9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82828"/>
                </a:solidFill>
                <a:latin typeface="Arial"/>
                <a:cs typeface="Arial"/>
              </a:rPr>
              <a:t>and</a:t>
            </a:r>
            <a:r>
              <a:rPr sz="2250" spc="-19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20" dirty="0">
                <a:solidFill>
                  <a:srgbClr val="282828"/>
                </a:solidFill>
                <a:latin typeface="Arial"/>
                <a:cs typeface="Arial"/>
              </a:rPr>
              <a:t>custom</a:t>
            </a:r>
            <a:r>
              <a:rPr sz="2250" spc="-4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82828"/>
                </a:solidFill>
                <a:latin typeface="Arial"/>
                <a:cs typeface="Arial"/>
              </a:rPr>
              <a:t>toolsets </a:t>
            </a:r>
            <a:r>
              <a:rPr sz="2250" spc="-45" dirty="0">
                <a:solidFill>
                  <a:srgbClr val="282828"/>
                </a:solidFill>
                <a:latin typeface="Arial"/>
                <a:cs typeface="Arial"/>
              </a:rPr>
              <a:t>based</a:t>
            </a:r>
            <a:r>
              <a:rPr sz="2250" spc="-12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15" dirty="0">
                <a:solidFill>
                  <a:srgbClr val="282828"/>
                </a:solidFill>
                <a:latin typeface="Arial"/>
                <a:cs typeface="Arial"/>
              </a:rPr>
              <a:t>on</a:t>
            </a:r>
            <a:r>
              <a:rPr sz="2250" spc="-22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82828"/>
                </a:solidFill>
                <a:latin typeface="Arial"/>
                <a:cs typeface="Arial"/>
              </a:rPr>
              <a:t>current</a:t>
            </a:r>
            <a:r>
              <a:rPr sz="2250" spc="-11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82828"/>
                </a:solidFill>
                <a:latin typeface="Arial"/>
                <a:cs typeface="Arial"/>
              </a:rPr>
              <a:t>context.</a:t>
            </a:r>
            <a:endParaRPr sz="22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0095" y="5853608"/>
            <a:ext cx="4037965" cy="2885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710"/>
              </a:lnSpc>
              <a:spcBef>
                <a:spcPts val="114"/>
              </a:spcBef>
            </a:pPr>
            <a:r>
              <a:rPr sz="3250" b="1" spc="-105" dirty="0">
                <a:solidFill>
                  <a:srgbClr val="131618"/>
                </a:solidFill>
                <a:latin typeface="Times New Roman"/>
                <a:cs typeface="Times New Roman"/>
              </a:rPr>
              <a:t>Step</a:t>
            </a:r>
            <a:r>
              <a:rPr sz="3250" b="1" spc="-280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3250" b="1" dirty="0">
                <a:solidFill>
                  <a:srgbClr val="131618"/>
                </a:solidFill>
                <a:latin typeface="Times New Roman"/>
                <a:cs typeface="Times New Roman"/>
              </a:rPr>
              <a:t>4:</a:t>
            </a:r>
            <a:r>
              <a:rPr sz="3250" b="1" spc="-390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3250" b="1" spc="-135" dirty="0">
                <a:solidFill>
                  <a:srgbClr val="131618"/>
                </a:solidFill>
                <a:latin typeface="Times New Roman"/>
                <a:cs typeface="Times New Roman"/>
              </a:rPr>
              <a:t>Result</a:t>
            </a:r>
            <a:r>
              <a:rPr sz="3250" b="1" spc="-165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3250" b="1" spc="-10" dirty="0">
                <a:solidFill>
                  <a:srgbClr val="131618"/>
                </a:solidFill>
                <a:latin typeface="Times New Roman"/>
                <a:cs typeface="Times New Roman"/>
              </a:rPr>
              <a:t>Parsing</a:t>
            </a:r>
            <a:endParaRPr sz="3250" dirty="0">
              <a:latin typeface="Times New Roman"/>
              <a:cs typeface="Times New Roman"/>
            </a:endParaRPr>
          </a:p>
          <a:p>
            <a:pPr marL="19050">
              <a:lnSpc>
                <a:spcPts val="3710"/>
              </a:lnSpc>
            </a:pPr>
            <a:r>
              <a:rPr sz="3100" spc="-175" dirty="0">
                <a:solidFill>
                  <a:srgbClr val="282828"/>
                </a:solidFill>
                <a:latin typeface="Times New Roman"/>
                <a:cs typeface="Times New Roman"/>
              </a:rPr>
              <a:t>&amp;</a:t>
            </a:r>
            <a:r>
              <a:rPr sz="3100" spc="-26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3250" b="1" spc="-155" dirty="0">
                <a:solidFill>
                  <a:srgbClr val="131618"/>
                </a:solidFill>
                <a:latin typeface="Times New Roman"/>
                <a:cs typeface="Times New Roman"/>
              </a:rPr>
              <a:t>Loop</a:t>
            </a:r>
            <a:r>
              <a:rPr sz="3250" b="1" spc="-140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3250" b="1" spc="-35" dirty="0">
                <a:solidFill>
                  <a:srgbClr val="131618"/>
                </a:solidFill>
                <a:latin typeface="Times New Roman"/>
                <a:cs typeface="Times New Roman"/>
              </a:rPr>
              <a:t>Iteration</a:t>
            </a:r>
            <a:endParaRPr sz="3250" dirty="0">
              <a:latin typeface="Times New Roman"/>
              <a:cs typeface="Times New Roman"/>
            </a:endParaRPr>
          </a:p>
          <a:p>
            <a:pPr marL="15240" marR="5080" indent="11430">
              <a:lnSpc>
                <a:spcPct val="104200"/>
              </a:lnSpc>
              <a:spcBef>
                <a:spcPts val="1010"/>
              </a:spcBef>
            </a:pPr>
            <a:r>
              <a:rPr sz="2250" spc="-100" dirty="0">
                <a:solidFill>
                  <a:srgbClr val="282828"/>
                </a:solidFill>
                <a:latin typeface="Arial"/>
                <a:cs typeface="Arial"/>
              </a:rPr>
              <a:t>Tool</a:t>
            </a:r>
            <a:r>
              <a:rPr sz="2250" spc="-17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82828"/>
                </a:solidFill>
                <a:latin typeface="Arial"/>
                <a:cs typeface="Arial"/>
              </a:rPr>
              <a:t>outputs</a:t>
            </a:r>
            <a:r>
              <a:rPr sz="2250" spc="-7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82828"/>
                </a:solidFill>
                <a:latin typeface="Arial"/>
                <a:cs typeface="Arial"/>
              </a:rPr>
              <a:t>are</a:t>
            </a:r>
            <a:r>
              <a:rPr sz="2250" spc="-15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82828"/>
                </a:solidFill>
                <a:latin typeface="Arial"/>
                <a:cs typeface="Arial"/>
              </a:rPr>
              <a:t>evaluated.</a:t>
            </a:r>
            <a:r>
              <a:rPr sz="2250" spc="-5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82828"/>
                </a:solidFill>
                <a:latin typeface="Arial"/>
                <a:cs typeface="Arial"/>
              </a:rPr>
              <a:t>The </a:t>
            </a:r>
            <a:r>
              <a:rPr sz="2250" spc="-70" dirty="0">
                <a:solidFill>
                  <a:srgbClr val="282828"/>
                </a:solidFill>
                <a:latin typeface="Arial"/>
                <a:cs typeface="Arial"/>
              </a:rPr>
              <a:t>engine</a:t>
            </a:r>
            <a:r>
              <a:rPr sz="2250" spc="-10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131618"/>
                </a:solidFill>
                <a:latin typeface="Arial"/>
                <a:cs typeface="Arial"/>
              </a:rPr>
              <a:t>iterates</a:t>
            </a:r>
            <a:r>
              <a:rPr sz="2250" spc="-75" dirty="0">
                <a:solidFill>
                  <a:srgbClr val="13161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82828"/>
                </a:solidFill>
                <a:latin typeface="Arial"/>
                <a:cs typeface="Arial"/>
              </a:rPr>
              <a:t>until</a:t>
            </a:r>
            <a:r>
              <a:rPr sz="2250" spc="-8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82828"/>
                </a:solidFill>
                <a:latin typeface="Arial"/>
                <a:cs typeface="Arial"/>
              </a:rPr>
              <a:t>an </a:t>
            </a:r>
            <a:r>
              <a:rPr sz="2250" spc="-50" dirty="0">
                <a:solidFill>
                  <a:srgbClr val="282828"/>
                </a:solidFill>
                <a:latin typeface="Arial"/>
                <a:cs typeface="Arial"/>
              </a:rPr>
              <a:t>operational</a:t>
            </a:r>
            <a:r>
              <a:rPr sz="2250" spc="-8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82828"/>
                </a:solidFill>
                <a:latin typeface="Arial"/>
                <a:cs typeface="Arial"/>
              </a:rPr>
              <a:t>conclusion </a:t>
            </a:r>
            <a:r>
              <a:rPr sz="2250" spc="-25" dirty="0">
                <a:solidFill>
                  <a:srgbClr val="282828"/>
                </a:solidFill>
                <a:latin typeface="Arial"/>
                <a:cs typeface="Arial"/>
              </a:rPr>
              <a:t>is </a:t>
            </a:r>
            <a:r>
              <a:rPr sz="2250" spc="-50" dirty="0">
                <a:solidFill>
                  <a:srgbClr val="282828"/>
                </a:solidFill>
                <a:latin typeface="Arial"/>
                <a:cs typeface="Arial"/>
              </a:rPr>
              <a:t>reached,</a:t>
            </a:r>
            <a:r>
              <a:rPr sz="2250" spc="-12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82828"/>
                </a:solidFill>
                <a:latin typeface="Arial"/>
                <a:cs typeface="Arial"/>
              </a:rPr>
              <a:t>minimizing</a:t>
            </a:r>
            <a:r>
              <a:rPr sz="2250" spc="-8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45" dirty="0">
                <a:solidFill>
                  <a:srgbClr val="282828"/>
                </a:solidFill>
                <a:latin typeface="Arial"/>
                <a:cs typeface="Arial"/>
              </a:rPr>
              <a:t>hallucination </a:t>
            </a:r>
            <a:r>
              <a:rPr sz="2250" spc="-20" dirty="0">
                <a:solidFill>
                  <a:srgbClr val="282828"/>
                </a:solidFill>
                <a:latin typeface="Arial"/>
                <a:cs typeface="Arial"/>
              </a:rPr>
              <a:t>through</a:t>
            </a:r>
            <a:r>
              <a:rPr sz="2250" spc="-9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82828"/>
                </a:solidFill>
                <a:latin typeface="Arial"/>
                <a:cs typeface="Arial"/>
              </a:rPr>
              <a:t>empirical</a:t>
            </a:r>
            <a:r>
              <a:rPr sz="2250" spc="-10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82828"/>
                </a:solidFill>
                <a:latin typeface="Arial"/>
                <a:cs typeface="Arial"/>
              </a:rPr>
              <a:t>data.</a:t>
            </a:r>
            <a:endParaRPr sz="225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93750" y="2368449"/>
            <a:ext cx="3497579" cy="252793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8415" marR="1236980" indent="-6350">
              <a:lnSpc>
                <a:spcPts val="3520"/>
              </a:lnSpc>
              <a:spcBef>
                <a:spcPts val="550"/>
              </a:spcBef>
            </a:pPr>
            <a:r>
              <a:rPr sz="3250" b="1" spc="-75" dirty="0">
                <a:solidFill>
                  <a:srgbClr val="282828"/>
                </a:solidFill>
                <a:latin typeface="Times New Roman"/>
                <a:cs typeface="Times New Roman"/>
              </a:rPr>
              <a:t>Step</a:t>
            </a:r>
            <a:r>
              <a:rPr sz="3250" b="1" spc="-29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3250" b="1" spc="-130" dirty="0">
                <a:solidFill>
                  <a:srgbClr val="131618"/>
                </a:solidFill>
                <a:latin typeface="Times New Roman"/>
                <a:cs typeface="Times New Roman"/>
              </a:rPr>
              <a:t>2:</a:t>
            </a:r>
            <a:r>
              <a:rPr sz="3250" b="1" spc="-340" dirty="0">
                <a:solidFill>
                  <a:srgbClr val="131618"/>
                </a:solidFill>
                <a:latin typeface="Times New Roman"/>
                <a:cs typeface="Times New Roman"/>
              </a:rPr>
              <a:t> </a:t>
            </a:r>
            <a:r>
              <a:rPr sz="3250" b="1" spc="-525" dirty="0">
                <a:solidFill>
                  <a:srgbClr val="131618"/>
                </a:solidFill>
                <a:latin typeface="Times New Roman"/>
                <a:cs typeface="Times New Roman"/>
              </a:rPr>
              <a:t>LLM </a:t>
            </a:r>
            <a:r>
              <a:rPr sz="3250" b="1" spc="-155" dirty="0">
                <a:solidFill>
                  <a:srgbClr val="131618"/>
                </a:solidFill>
                <a:latin typeface="Times New Roman"/>
                <a:cs typeface="Times New Roman"/>
              </a:rPr>
              <a:t>Orchestration</a:t>
            </a:r>
            <a:endParaRPr sz="3250">
              <a:latin typeface="Times New Roman"/>
              <a:cs typeface="Times New Roman"/>
            </a:endParaRPr>
          </a:p>
          <a:p>
            <a:pPr marL="20320" marR="5080" indent="5080">
              <a:lnSpc>
                <a:spcPct val="103000"/>
              </a:lnSpc>
              <a:spcBef>
                <a:spcPts val="1085"/>
              </a:spcBef>
            </a:pPr>
            <a:r>
              <a:rPr sz="2250" spc="-60" dirty="0">
                <a:solidFill>
                  <a:srgbClr val="131618"/>
                </a:solidFill>
                <a:latin typeface="Arial"/>
                <a:cs typeface="Arial"/>
              </a:rPr>
              <a:t>LiteLLM</a:t>
            </a:r>
            <a:r>
              <a:rPr sz="2250" spc="-114" dirty="0">
                <a:solidFill>
                  <a:srgbClr val="131618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82828"/>
                </a:solidFill>
                <a:latin typeface="Arial"/>
                <a:cs typeface="Arial"/>
              </a:rPr>
              <a:t>provider</a:t>
            </a:r>
            <a:r>
              <a:rPr sz="2250" spc="-9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82828"/>
                </a:solidFill>
                <a:latin typeface="Arial"/>
                <a:cs typeface="Arial"/>
              </a:rPr>
              <a:t>abstraction </a:t>
            </a:r>
            <a:r>
              <a:rPr sz="2250" spc="-55" dirty="0">
                <a:solidFill>
                  <a:srgbClr val="282828"/>
                </a:solidFill>
                <a:latin typeface="Arial"/>
                <a:cs typeface="Arial"/>
              </a:rPr>
              <a:t>normalizes</a:t>
            </a:r>
            <a:r>
              <a:rPr sz="2250" spc="-9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55" dirty="0">
                <a:solidFill>
                  <a:srgbClr val="282828"/>
                </a:solidFill>
                <a:latin typeface="Arial"/>
                <a:cs typeface="Arial"/>
              </a:rPr>
              <a:t>access</a:t>
            </a:r>
            <a:r>
              <a:rPr sz="2250" spc="-10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82828"/>
                </a:solidFill>
                <a:latin typeface="Arial"/>
                <a:cs typeface="Arial"/>
              </a:rPr>
              <a:t>across </a:t>
            </a:r>
            <a:r>
              <a:rPr sz="2250" spc="-95" dirty="0">
                <a:solidFill>
                  <a:srgbClr val="282828"/>
                </a:solidFill>
                <a:latin typeface="Arial"/>
                <a:cs typeface="Arial"/>
              </a:rPr>
              <a:t>OpenAI,</a:t>
            </a:r>
            <a:r>
              <a:rPr sz="2250" spc="-2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40" dirty="0">
                <a:solidFill>
                  <a:srgbClr val="282828"/>
                </a:solidFill>
                <a:latin typeface="Arial"/>
                <a:cs typeface="Arial"/>
              </a:rPr>
              <a:t>Anthropic,</a:t>
            </a:r>
            <a:r>
              <a:rPr sz="2250" spc="-4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82828"/>
                </a:solidFill>
                <a:latin typeface="Arial"/>
                <a:cs typeface="Arial"/>
              </a:rPr>
              <a:t>Azure,</a:t>
            </a:r>
            <a:r>
              <a:rPr sz="2250" spc="-17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82828"/>
                </a:solidFill>
                <a:latin typeface="Arial"/>
                <a:cs typeface="Arial"/>
              </a:rPr>
              <a:t>or </a:t>
            </a:r>
            <a:r>
              <a:rPr sz="2250" spc="-10" dirty="0">
                <a:solidFill>
                  <a:srgbClr val="282828"/>
                </a:solidFill>
                <a:latin typeface="Arial"/>
                <a:cs typeface="Arial"/>
              </a:rPr>
              <a:t>Bedrock.</a:t>
            </a:r>
            <a:endParaRPr sz="2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93750" y="6487661"/>
            <a:ext cx="3641725" cy="1957705"/>
          </a:xfrm>
          <a:prstGeom prst="rect">
            <a:avLst/>
          </a:prstGeom>
        </p:spPr>
        <p:txBody>
          <a:bodyPr vert="horz" wrap="square" lIns="0" tIns="236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3250" b="1" spc="-70" dirty="0">
                <a:solidFill>
                  <a:srgbClr val="282828"/>
                </a:solidFill>
                <a:latin typeface="Times New Roman"/>
                <a:cs typeface="Times New Roman"/>
              </a:rPr>
              <a:t>Step</a:t>
            </a:r>
            <a:r>
              <a:rPr sz="3250" b="1" spc="-18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3250" b="1" spc="-100" dirty="0">
                <a:solidFill>
                  <a:srgbClr val="282828"/>
                </a:solidFill>
                <a:latin typeface="Times New Roman"/>
                <a:cs typeface="Times New Roman"/>
              </a:rPr>
              <a:t>3:Tool</a:t>
            </a:r>
            <a:r>
              <a:rPr sz="3250" b="1" spc="-160" dirty="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sz="3250" b="1" spc="-114" dirty="0">
                <a:solidFill>
                  <a:srgbClr val="282828"/>
                </a:solidFill>
                <a:latin typeface="Times New Roman"/>
                <a:cs typeface="Times New Roman"/>
              </a:rPr>
              <a:t>Execution</a:t>
            </a:r>
            <a:endParaRPr sz="3250" dirty="0">
              <a:latin typeface="Times New Roman"/>
              <a:cs typeface="Times New Roman"/>
            </a:endParaRPr>
          </a:p>
          <a:p>
            <a:pPr marL="27940" marR="20320" indent="-2540">
              <a:lnSpc>
                <a:spcPct val="104200"/>
              </a:lnSpc>
              <a:spcBef>
                <a:spcPts val="1105"/>
              </a:spcBef>
            </a:pPr>
            <a:r>
              <a:rPr sz="2250" spc="-75" dirty="0">
                <a:solidFill>
                  <a:srgbClr val="282828"/>
                </a:solidFill>
                <a:latin typeface="Arial"/>
                <a:cs typeface="Arial"/>
              </a:rPr>
              <a:t>Live</a:t>
            </a:r>
            <a:r>
              <a:rPr sz="2250" spc="-12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131618"/>
                </a:solidFill>
                <a:latin typeface="Arial"/>
                <a:cs typeface="Arial"/>
              </a:rPr>
              <a:t>query</a:t>
            </a:r>
            <a:r>
              <a:rPr sz="2250" spc="-145" dirty="0">
                <a:solidFill>
                  <a:srgbClr val="131618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82828"/>
                </a:solidFill>
                <a:latin typeface="Arial"/>
                <a:cs typeface="Arial"/>
              </a:rPr>
              <a:t>execution</a:t>
            </a:r>
            <a:r>
              <a:rPr sz="225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82828"/>
                </a:solidFill>
                <a:latin typeface="Arial"/>
                <a:cs typeface="Arial"/>
              </a:rPr>
              <a:t>against </a:t>
            </a:r>
            <a:r>
              <a:rPr sz="2250" spc="-30" dirty="0">
                <a:solidFill>
                  <a:srgbClr val="282828"/>
                </a:solidFill>
                <a:latin typeface="Arial"/>
                <a:cs typeface="Arial"/>
              </a:rPr>
              <a:t>internal</a:t>
            </a:r>
            <a:r>
              <a:rPr sz="2250" spc="-114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70" dirty="0">
                <a:solidFill>
                  <a:srgbClr val="131618"/>
                </a:solidFill>
                <a:latin typeface="Arial"/>
                <a:cs typeface="Arial"/>
              </a:rPr>
              <a:t>K8s</a:t>
            </a:r>
            <a:r>
              <a:rPr sz="2250" spc="-235" dirty="0">
                <a:solidFill>
                  <a:srgbClr val="131618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82828"/>
                </a:solidFill>
                <a:latin typeface="Arial"/>
                <a:cs typeface="Arial"/>
              </a:rPr>
              <a:t>clusters,</a:t>
            </a:r>
            <a:r>
              <a:rPr sz="2250" spc="-8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82828"/>
                </a:solidFill>
                <a:latin typeface="Arial"/>
                <a:cs typeface="Arial"/>
              </a:rPr>
              <a:t>external </a:t>
            </a:r>
            <a:r>
              <a:rPr sz="2250" spc="-105" dirty="0">
                <a:solidFill>
                  <a:srgbClr val="282828"/>
                </a:solidFill>
                <a:latin typeface="Arial"/>
                <a:cs typeface="Arial"/>
              </a:rPr>
              <a:t>APls,</a:t>
            </a:r>
            <a:r>
              <a:rPr sz="2250" spc="-7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82828"/>
                </a:solidFill>
                <a:latin typeface="Arial"/>
                <a:cs typeface="Arial"/>
              </a:rPr>
              <a:t>or</a:t>
            </a:r>
            <a:r>
              <a:rPr sz="2250" spc="-11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82828"/>
                </a:solidFill>
                <a:latin typeface="Arial"/>
                <a:cs typeface="Arial"/>
              </a:rPr>
              <a:t>Saas</a:t>
            </a:r>
            <a:r>
              <a:rPr sz="2250" spc="-9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82828"/>
                </a:solidFill>
                <a:latin typeface="Arial"/>
                <a:cs typeface="Arial"/>
              </a:rPr>
              <a:t>endpoints.</a:t>
            </a:r>
            <a:endParaRPr sz="22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E9C091-A957-4853-A29A-CC1FF1F85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"/>
            <a:ext cx="17475200" cy="9749943"/>
          </a:xfrm>
          <a:prstGeom prst="rect">
            <a:avLst/>
          </a:prstGeom>
        </p:spPr>
      </p:pic>
      <p:sp>
        <p:nvSpPr>
          <p:cNvPr id="6" name="object 26">
            <a:extLst>
              <a:ext uri="{FF2B5EF4-FFF2-40B4-BE49-F238E27FC236}">
                <a16:creationId xmlns:a16="http://schemas.microsoft.com/office/drawing/2014/main" id="{2F26D019-B341-4999-83A5-6C939F6B86E5}"/>
              </a:ext>
            </a:extLst>
          </p:cNvPr>
          <p:cNvSpPr txBox="1"/>
          <p:nvPr/>
        </p:nvSpPr>
        <p:spPr>
          <a:xfrm>
            <a:off x="1346200" y="7414554"/>
            <a:ext cx="6188710" cy="134844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73050" indent="-260350">
              <a:lnSpc>
                <a:spcPct val="100000"/>
              </a:lnSpc>
              <a:spcBef>
                <a:spcPts val="2595"/>
              </a:spcBef>
              <a:buClr>
                <a:srgbClr val="13161C"/>
              </a:buClr>
              <a:buChar char="•"/>
              <a:tabLst>
                <a:tab pos="273050" algn="l"/>
              </a:tabLst>
            </a:pPr>
            <a:r>
              <a:rPr sz="2300" spc="-110" dirty="0">
                <a:solidFill>
                  <a:srgbClr val="26282B"/>
                </a:solidFill>
                <a:latin typeface="Arial"/>
                <a:cs typeface="Arial"/>
              </a:rPr>
              <a:t>Data</a:t>
            </a:r>
            <a:r>
              <a:rPr sz="2300" spc="-80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85" dirty="0">
                <a:solidFill>
                  <a:srgbClr val="26282B"/>
                </a:solidFill>
                <a:latin typeface="Arial"/>
                <a:cs typeface="Arial"/>
              </a:rPr>
              <a:t>shipped</a:t>
            </a:r>
            <a:r>
              <a:rPr sz="2300" spc="-6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6282B"/>
                </a:solidFill>
                <a:latin typeface="Arial"/>
                <a:cs typeface="Arial"/>
              </a:rPr>
              <a:t>to</a:t>
            </a:r>
            <a:r>
              <a:rPr sz="2300" spc="-16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80" dirty="0">
                <a:solidFill>
                  <a:srgbClr val="26282B"/>
                </a:solidFill>
                <a:latin typeface="Arial"/>
                <a:cs typeface="Arial"/>
              </a:rPr>
              <a:t>centralized</a:t>
            </a:r>
            <a:r>
              <a:rPr sz="2300" spc="-114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13161C"/>
                </a:solidFill>
                <a:latin typeface="Arial"/>
                <a:cs typeface="Arial"/>
              </a:rPr>
              <a:t>petabyte</a:t>
            </a:r>
            <a:r>
              <a:rPr sz="2300" spc="-30" dirty="0">
                <a:solidFill>
                  <a:srgbClr val="13161C"/>
                </a:solidFill>
                <a:latin typeface="Arial"/>
                <a:cs typeface="Arial"/>
              </a:rPr>
              <a:t> </a:t>
            </a:r>
            <a:r>
              <a:rPr sz="2300" spc="-55" dirty="0">
                <a:solidFill>
                  <a:srgbClr val="13161C"/>
                </a:solidFill>
                <a:latin typeface="Arial"/>
                <a:cs typeface="Arial"/>
              </a:rPr>
              <a:t>warehouse.</a:t>
            </a:r>
            <a:endParaRPr sz="2300" dirty="0">
              <a:latin typeface="Arial"/>
              <a:cs typeface="Arial"/>
            </a:endParaRPr>
          </a:p>
          <a:p>
            <a:pPr marL="271780" indent="-259079">
              <a:lnSpc>
                <a:spcPct val="100000"/>
              </a:lnSpc>
              <a:spcBef>
                <a:spcPts val="960"/>
              </a:spcBef>
              <a:buClr>
                <a:srgbClr val="13161C"/>
              </a:buClr>
              <a:buChar char="•"/>
              <a:tabLst>
                <a:tab pos="271780" algn="l"/>
              </a:tabLst>
            </a:pPr>
            <a:r>
              <a:rPr sz="2300" spc="-80" dirty="0">
                <a:solidFill>
                  <a:srgbClr val="26282B"/>
                </a:solidFill>
                <a:latin typeface="Arial"/>
                <a:cs typeface="Arial"/>
              </a:rPr>
              <a:t>High</a:t>
            </a:r>
            <a:r>
              <a:rPr sz="2300" spc="-100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80" dirty="0">
                <a:solidFill>
                  <a:srgbClr val="26282B"/>
                </a:solidFill>
                <a:latin typeface="Arial"/>
                <a:cs typeface="Arial"/>
              </a:rPr>
              <a:t>latency,</a:t>
            </a:r>
            <a:r>
              <a:rPr sz="2300" spc="-16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26282B"/>
                </a:solidFill>
                <a:latin typeface="Arial"/>
                <a:cs typeface="Arial"/>
              </a:rPr>
              <a:t>high</a:t>
            </a:r>
            <a:r>
              <a:rPr sz="2300" spc="-130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90" dirty="0">
                <a:solidFill>
                  <a:srgbClr val="26282B"/>
                </a:solidFill>
                <a:latin typeface="Arial"/>
                <a:cs typeface="Arial"/>
              </a:rPr>
              <a:t>storage</a:t>
            </a:r>
            <a:r>
              <a:rPr sz="2300" spc="-15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6282B"/>
                </a:solidFill>
                <a:latin typeface="Arial"/>
                <a:cs typeface="Arial"/>
              </a:rPr>
              <a:t>costs.</a:t>
            </a:r>
            <a:endParaRPr sz="2300" dirty="0">
              <a:latin typeface="Arial"/>
              <a:cs typeface="Arial"/>
            </a:endParaRPr>
          </a:p>
          <a:p>
            <a:pPr marL="273050" indent="-260350">
              <a:lnSpc>
                <a:spcPct val="100000"/>
              </a:lnSpc>
              <a:spcBef>
                <a:spcPts val="1060"/>
              </a:spcBef>
              <a:buClr>
                <a:srgbClr val="13161C"/>
              </a:buClr>
              <a:buChar char="•"/>
              <a:tabLst>
                <a:tab pos="273050" algn="l"/>
              </a:tabLst>
            </a:pPr>
            <a:r>
              <a:rPr sz="2300" spc="-85" dirty="0">
                <a:solidFill>
                  <a:srgbClr val="26282B"/>
                </a:solidFill>
                <a:latin typeface="Arial"/>
                <a:cs typeface="Arial"/>
              </a:rPr>
              <a:t>Models</a:t>
            </a:r>
            <a:r>
              <a:rPr sz="2300" spc="-5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75" dirty="0">
                <a:solidFill>
                  <a:srgbClr val="26282B"/>
                </a:solidFill>
                <a:latin typeface="Arial"/>
                <a:cs typeface="Arial"/>
              </a:rPr>
              <a:t>query</a:t>
            </a:r>
            <a:r>
              <a:rPr sz="2300" spc="-140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65" dirty="0">
                <a:solidFill>
                  <a:srgbClr val="13161C"/>
                </a:solidFill>
                <a:latin typeface="Arial"/>
                <a:cs typeface="Arial"/>
              </a:rPr>
              <a:t>stale,</a:t>
            </a:r>
            <a:r>
              <a:rPr sz="2300" spc="-210" dirty="0">
                <a:solidFill>
                  <a:srgbClr val="13161C"/>
                </a:solidFill>
                <a:latin typeface="Arial"/>
                <a:cs typeface="Arial"/>
              </a:rPr>
              <a:t> </a:t>
            </a:r>
            <a:r>
              <a:rPr sz="2300" spc="-90" dirty="0">
                <a:solidFill>
                  <a:srgbClr val="26282B"/>
                </a:solidFill>
                <a:latin typeface="Arial"/>
                <a:cs typeface="Arial"/>
              </a:rPr>
              <a:t>aggregated</a:t>
            </a:r>
            <a:r>
              <a:rPr sz="2300" spc="60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6282B"/>
                </a:solidFill>
                <a:latin typeface="Arial"/>
                <a:cs typeface="Arial"/>
              </a:rPr>
              <a:t>data.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7" name="object 30">
            <a:extLst>
              <a:ext uri="{FF2B5EF4-FFF2-40B4-BE49-F238E27FC236}">
                <a16:creationId xmlns:a16="http://schemas.microsoft.com/office/drawing/2014/main" id="{55B9D351-EF35-4E8D-A00C-D766BD39D4F3}"/>
              </a:ext>
            </a:extLst>
          </p:cNvPr>
          <p:cNvSpPr txBox="1"/>
          <p:nvPr/>
        </p:nvSpPr>
        <p:spPr>
          <a:xfrm>
            <a:off x="9715516" y="7204075"/>
            <a:ext cx="6901180" cy="178752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73050" indent="-260350">
              <a:lnSpc>
                <a:spcPct val="100000"/>
              </a:lnSpc>
              <a:spcBef>
                <a:spcPts val="1055"/>
              </a:spcBef>
              <a:buClr>
                <a:srgbClr val="13161C"/>
              </a:buClr>
              <a:buChar char="•"/>
              <a:tabLst>
                <a:tab pos="273050" algn="l"/>
              </a:tabLst>
            </a:pPr>
            <a:r>
              <a:rPr sz="2300" spc="-60" dirty="0">
                <a:solidFill>
                  <a:srgbClr val="26282B"/>
                </a:solidFill>
                <a:latin typeface="Arial"/>
                <a:cs typeface="Arial"/>
              </a:rPr>
              <a:t>Data-</a:t>
            </a:r>
            <a:r>
              <a:rPr sz="2300" spc="-55" dirty="0">
                <a:solidFill>
                  <a:srgbClr val="26282B"/>
                </a:solidFill>
                <a:latin typeface="Arial"/>
                <a:cs typeface="Arial"/>
              </a:rPr>
              <a:t>flow</a:t>
            </a:r>
            <a:r>
              <a:rPr sz="2300" spc="-55" dirty="0">
                <a:latin typeface="Arial"/>
                <a:cs typeface="Arial"/>
              </a:rPr>
              <a:t>-</a:t>
            </a:r>
            <a:r>
              <a:rPr sz="2300" spc="-60" dirty="0">
                <a:solidFill>
                  <a:srgbClr val="26282B"/>
                </a:solidFill>
                <a:latin typeface="Arial"/>
                <a:cs typeface="Arial"/>
              </a:rPr>
              <a:t>heavy,</a:t>
            </a:r>
            <a:r>
              <a:rPr sz="2300" spc="-204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26282B"/>
                </a:solidFill>
                <a:latin typeface="Arial"/>
                <a:cs typeface="Arial"/>
              </a:rPr>
              <a:t>live</a:t>
            </a:r>
            <a:r>
              <a:rPr sz="2300" spc="-50" dirty="0">
                <a:latin typeface="Arial"/>
                <a:cs typeface="Arial"/>
              </a:rPr>
              <a:t>-</a:t>
            </a:r>
            <a:r>
              <a:rPr sz="2300" spc="-60" dirty="0">
                <a:solidFill>
                  <a:srgbClr val="26282B"/>
                </a:solidFill>
                <a:latin typeface="Arial"/>
                <a:cs typeface="Arial"/>
              </a:rPr>
              <a:t>query-</a:t>
            </a:r>
            <a:r>
              <a:rPr sz="2300" spc="-70" dirty="0">
                <a:solidFill>
                  <a:srgbClr val="26282B"/>
                </a:solidFill>
                <a:latin typeface="Arial"/>
                <a:cs typeface="Arial"/>
              </a:rPr>
              <a:t>based</a:t>
            </a:r>
            <a:r>
              <a:rPr sz="2300" spc="-10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6282B"/>
                </a:solidFill>
                <a:latin typeface="Arial"/>
                <a:cs typeface="Arial"/>
              </a:rPr>
              <a:t>runtime.</a:t>
            </a:r>
            <a:endParaRPr sz="2300" dirty="0">
              <a:latin typeface="Arial"/>
              <a:cs typeface="Arial"/>
            </a:endParaRPr>
          </a:p>
          <a:p>
            <a:pPr marL="284480" marR="808355" indent="-272415">
              <a:lnSpc>
                <a:spcPts val="2710"/>
              </a:lnSpc>
              <a:spcBef>
                <a:spcPts val="1090"/>
              </a:spcBef>
              <a:buClr>
                <a:srgbClr val="13161C"/>
              </a:buClr>
              <a:buChar char="•"/>
              <a:tabLst>
                <a:tab pos="284480" algn="l"/>
              </a:tabLst>
            </a:pPr>
            <a:r>
              <a:rPr sz="2300" spc="-114" dirty="0">
                <a:solidFill>
                  <a:srgbClr val="26282B"/>
                </a:solidFill>
                <a:latin typeface="Arial"/>
                <a:cs typeface="Arial"/>
              </a:rPr>
              <a:t>Retrieves</a:t>
            </a:r>
            <a:r>
              <a:rPr sz="2300" spc="-20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90" dirty="0">
                <a:solidFill>
                  <a:srgbClr val="26282B"/>
                </a:solidFill>
                <a:latin typeface="Arial"/>
                <a:cs typeface="Arial"/>
              </a:rPr>
              <a:t>operational</a:t>
            </a:r>
            <a:r>
              <a:rPr sz="2300" spc="-5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95" dirty="0">
                <a:solidFill>
                  <a:srgbClr val="13161C"/>
                </a:solidFill>
                <a:latin typeface="Arial"/>
                <a:cs typeface="Arial"/>
              </a:rPr>
              <a:t>evidence</a:t>
            </a:r>
            <a:r>
              <a:rPr sz="2300" spc="-35" dirty="0">
                <a:solidFill>
                  <a:srgbClr val="13161C"/>
                </a:solidFill>
                <a:latin typeface="Arial"/>
                <a:cs typeface="Arial"/>
              </a:rPr>
              <a:t> </a:t>
            </a:r>
            <a:r>
              <a:rPr sz="2300" spc="-85" dirty="0">
                <a:solidFill>
                  <a:srgbClr val="26282B"/>
                </a:solidFill>
                <a:latin typeface="Arial"/>
                <a:cs typeface="Arial"/>
              </a:rPr>
              <a:t>dynamically</a:t>
            </a:r>
            <a:r>
              <a:rPr sz="2300" spc="40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26282B"/>
                </a:solidFill>
                <a:latin typeface="Arial"/>
                <a:cs typeface="Arial"/>
              </a:rPr>
              <a:t>from </a:t>
            </a:r>
            <a:r>
              <a:rPr sz="2300" spc="-80" dirty="0">
                <a:solidFill>
                  <a:srgbClr val="26282B"/>
                </a:solidFill>
                <a:latin typeface="Arial"/>
                <a:cs typeface="Arial"/>
              </a:rPr>
              <a:t>external</a:t>
            </a:r>
            <a:r>
              <a:rPr sz="2300" spc="-10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6282B"/>
                </a:solidFill>
                <a:latin typeface="Arial"/>
                <a:cs typeface="Arial"/>
              </a:rPr>
              <a:t>systems.</a:t>
            </a:r>
            <a:endParaRPr sz="2300" dirty="0">
              <a:latin typeface="Arial"/>
              <a:cs typeface="Arial"/>
            </a:endParaRPr>
          </a:p>
          <a:p>
            <a:pPr marL="289560" indent="-276860">
              <a:lnSpc>
                <a:spcPct val="100000"/>
              </a:lnSpc>
              <a:spcBef>
                <a:spcPts val="885"/>
              </a:spcBef>
              <a:buClr>
                <a:srgbClr val="13161C"/>
              </a:buClr>
              <a:buChar char="•"/>
              <a:tabLst>
                <a:tab pos="289560" algn="l"/>
              </a:tabLst>
            </a:pPr>
            <a:r>
              <a:rPr sz="2300" spc="-140" dirty="0">
                <a:solidFill>
                  <a:srgbClr val="26282B"/>
                </a:solidFill>
                <a:latin typeface="Arial"/>
                <a:cs typeface="Arial"/>
              </a:rPr>
              <a:t>Zero</a:t>
            </a:r>
            <a:r>
              <a:rPr sz="2300" spc="-12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75" dirty="0">
                <a:solidFill>
                  <a:srgbClr val="26282B"/>
                </a:solidFill>
                <a:latin typeface="Arial"/>
                <a:cs typeface="Arial"/>
              </a:rPr>
              <a:t>local</a:t>
            </a:r>
            <a:r>
              <a:rPr sz="2300" spc="-6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130" dirty="0">
                <a:solidFill>
                  <a:srgbClr val="26282B"/>
                </a:solidFill>
                <a:latin typeface="Arial"/>
                <a:cs typeface="Arial"/>
              </a:rPr>
              <a:t>warehouse</a:t>
            </a:r>
            <a:r>
              <a:rPr sz="2300" spc="-80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110" dirty="0">
                <a:solidFill>
                  <a:srgbClr val="26282B"/>
                </a:solidFill>
                <a:latin typeface="Arial"/>
                <a:cs typeface="Arial"/>
              </a:rPr>
              <a:t>maintenance.</a:t>
            </a:r>
            <a:r>
              <a:rPr sz="2300" spc="-8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110" dirty="0">
                <a:solidFill>
                  <a:srgbClr val="26282B"/>
                </a:solidFill>
                <a:latin typeface="Arial"/>
                <a:cs typeface="Arial"/>
              </a:rPr>
              <a:t>Real-time</a:t>
            </a:r>
            <a:r>
              <a:rPr sz="2300" spc="-65" dirty="0">
                <a:solidFill>
                  <a:srgbClr val="26282B"/>
                </a:solidFill>
                <a:latin typeface="Arial"/>
                <a:cs typeface="Arial"/>
              </a:rPr>
              <a:t> </a:t>
            </a:r>
            <a:r>
              <a:rPr sz="2300" spc="-55" dirty="0">
                <a:solidFill>
                  <a:srgbClr val="26282B"/>
                </a:solidFill>
                <a:latin typeface="Arial"/>
                <a:cs typeface="Arial"/>
              </a:rPr>
              <a:t>accuracy.</a:t>
            </a:r>
            <a:endParaRPr sz="23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3918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784DB-C338-429A-8BE2-65681ED21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"/>
            <a:ext cx="17475200" cy="974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12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D1DF25-6659-4301-878D-2A9D0212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"/>
            <a:ext cx="17475200" cy="974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43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570B868-9098-42F5-911A-1F7CB1CB8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27" y="0"/>
            <a:ext cx="17475200" cy="9749943"/>
          </a:xfrm>
          <a:prstGeom prst="rect">
            <a:avLst/>
          </a:prstGeom>
        </p:spPr>
      </p:pic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794644" y="381000"/>
            <a:ext cx="15872057" cy="919172"/>
          </a:xfrm>
          <a:prstGeom prst="rect">
            <a:avLst/>
          </a:prstGeom>
        </p:spPr>
        <p:txBody>
          <a:bodyPr vert="horz" wrap="square" lIns="0" tIns="79703" rIns="0" bIns="0" rtlCol="0">
            <a:spAutoFit/>
          </a:bodyPr>
          <a:lstStyle/>
          <a:p>
            <a:pPr marL="3159760">
              <a:lnSpc>
                <a:spcPct val="100000"/>
              </a:lnSpc>
              <a:spcBef>
                <a:spcPts val="125"/>
              </a:spcBef>
            </a:pPr>
            <a:r>
              <a:rPr b="1" spc="-100" dirty="0">
                <a:solidFill>
                  <a:srgbClr val="28282A"/>
                </a:solidFill>
                <a:latin typeface="Times New Roman"/>
                <a:cs typeface="Times New Roman"/>
              </a:rPr>
              <a:t>The</a:t>
            </a:r>
            <a:r>
              <a:rPr b="1" spc="-280" dirty="0">
                <a:solidFill>
                  <a:srgbClr val="28282A"/>
                </a:solidFill>
                <a:latin typeface="Times New Roman"/>
                <a:cs typeface="Times New Roman"/>
              </a:rPr>
              <a:t> </a:t>
            </a:r>
            <a:r>
              <a:rPr b="1" spc="-180" dirty="0">
                <a:solidFill>
                  <a:srgbClr val="28282A"/>
                </a:solidFill>
                <a:latin typeface="Times New Roman"/>
                <a:cs typeface="Times New Roman"/>
              </a:rPr>
              <a:t>Enterprise</a:t>
            </a:r>
            <a:r>
              <a:rPr b="1" spc="-160" dirty="0">
                <a:solidFill>
                  <a:srgbClr val="28282A"/>
                </a:solidFill>
                <a:latin typeface="Times New Roman"/>
                <a:cs typeface="Times New Roman"/>
              </a:rPr>
              <a:t> </a:t>
            </a:r>
            <a:r>
              <a:rPr b="1" spc="-180" dirty="0">
                <a:solidFill>
                  <a:srgbClr val="28282A"/>
                </a:solidFill>
                <a:latin typeface="Times New Roman"/>
                <a:cs typeface="Times New Roman"/>
              </a:rPr>
              <a:t>Architecture</a:t>
            </a:r>
            <a:r>
              <a:rPr b="1" spc="-60" dirty="0">
                <a:solidFill>
                  <a:srgbClr val="28282A"/>
                </a:solidFill>
                <a:latin typeface="Times New Roman"/>
                <a:cs typeface="Times New Roman"/>
              </a:rPr>
              <a:t> </a:t>
            </a:r>
            <a:r>
              <a:rPr b="1" spc="-430" dirty="0">
                <a:solidFill>
                  <a:srgbClr val="28282A"/>
                </a:solidFill>
                <a:latin typeface="Times New Roman"/>
                <a:cs typeface="Times New Roman"/>
              </a:rPr>
              <a:t>Sta</a:t>
            </a:r>
            <a:r>
              <a:rPr lang="en-US" b="1" spc="-430" dirty="0">
                <a:solidFill>
                  <a:srgbClr val="28282A"/>
                </a:solidFill>
                <a:latin typeface="Times New Roman"/>
                <a:cs typeface="Times New Roman"/>
              </a:rPr>
              <a:t>ck</a:t>
            </a:r>
            <a:endParaRPr b="1" spc="-430" dirty="0">
              <a:solidFill>
                <a:srgbClr val="28282A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42600" y="2244445"/>
            <a:ext cx="5002530" cy="64319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2047875" indent="2540">
              <a:lnSpc>
                <a:spcPct val="110200"/>
              </a:lnSpc>
              <a:spcBef>
                <a:spcPts val="415"/>
              </a:spcBef>
            </a:pPr>
            <a:r>
              <a:rPr sz="1700" b="1" spc="-85" dirty="0">
                <a:solidFill>
                  <a:srgbClr val="28282A"/>
                </a:solidFill>
                <a:latin typeface="Arial"/>
                <a:cs typeface="Arial"/>
              </a:rPr>
              <a:t>Layer</a:t>
            </a:r>
            <a:r>
              <a:rPr sz="1700" b="1" spc="-195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700" b="1" spc="-25" dirty="0">
                <a:solidFill>
                  <a:srgbClr val="0F0F11"/>
                </a:solidFill>
                <a:latin typeface="Arial"/>
                <a:cs typeface="Arial"/>
              </a:rPr>
              <a:t>1</a:t>
            </a:r>
            <a:r>
              <a:rPr sz="1700" b="1" spc="-25" dirty="0">
                <a:solidFill>
                  <a:srgbClr val="3F3F3F"/>
                </a:solidFill>
                <a:latin typeface="Arial"/>
                <a:cs typeface="Arial"/>
              </a:rPr>
              <a:t>:</a:t>
            </a:r>
            <a:r>
              <a:rPr sz="1700" b="1" spc="-25" dirty="0">
                <a:solidFill>
                  <a:srgbClr val="28282A"/>
                </a:solidFill>
                <a:latin typeface="Arial"/>
                <a:cs typeface="Arial"/>
              </a:rPr>
              <a:t>Presentation</a:t>
            </a:r>
            <a:r>
              <a:rPr sz="1700" b="1" spc="2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850" spc="-260" dirty="0">
                <a:solidFill>
                  <a:srgbClr val="28282A"/>
                </a:solidFill>
                <a:latin typeface="Times New Roman"/>
                <a:cs typeface="Times New Roman"/>
              </a:rPr>
              <a:t>&amp;</a:t>
            </a:r>
            <a:r>
              <a:rPr sz="1850" spc="-175" dirty="0">
                <a:solidFill>
                  <a:srgbClr val="28282A"/>
                </a:solidFill>
                <a:latin typeface="Times New Roman"/>
                <a:cs typeface="Times New Roman"/>
              </a:rPr>
              <a:t> </a:t>
            </a:r>
            <a:r>
              <a:rPr sz="1700" b="1" spc="-25" dirty="0">
                <a:solidFill>
                  <a:srgbClr val="28282A"/>
                </a:solidFill>
                <a:latin typeface="Arial"/>
                <a:cs typeface="Arial"/>
              </a:rPr>
              <a:t>AP</a:t>
            </a:r>
            <a:r>
              <a:rPr sz="1700" b="1" spc="-25" dirty="0">
                <a:solidFill>
                  <a:srgbClr val="0F0F11"/>
                </a:solidFill>
                <a:latin typeface="Arial"/>
                <a:cs typeface="Arial"/>
              </a:rPr>
              <a:t>I </a:t>
            </a:r>
            <a:r>
              <a:rPr sz="1500" spc="-65" dirty="0">
                <a:solidFill>
                  <a:srgbClr val="3F3F3F"/>
                </a:solidFill>
                <a:latin typeface="Arial"/>
                <a:cs typeface="Arial"/>
              </a:rPr>
              <a:t>Typer</a:t>
            </a:r>
            <a:r>
              <a:rPr sz="1500" spc="-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75" dirty="0">
                <a:solidFill>
                  <a:srgbClr val="3F3F3F"/>
                </a:solidFill>
                <a:latin typeface="Arial"/>
                <a:cs typeface="Arial"/>
              </a:rPr>
              <a:t>CLI</a:t>
            </a:r>
            <a:r>
              <a:rPr sz="1500" spc="-13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28282A"/>
                </a:solidFill>
                <a:latin typeface="Arial"/>
                <a:cs typeface="Arial"/>
              </a:rPr>
              <a:t>&amp;</a:t>
            </a:r>
            <a:r>
              <a:rPr sz="1450" spc="-12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3F3F3F"/>
                </a:solidFill>
                <a:latin typeface="Arial"/>
                <a:cs typeface="Arial"/>
              </a:rPr>
              <a:t>FastAPI</a:t>
            </a:r>
            <a:r>
              <a:rPr sz="1500" spc="-1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F3F3F"/>
                </a:solidFill>
                <a:latin typeface="Arial"/>
                <a:cs typeface="Arial"/>
              </a:rPr>
              <a:t>/</a:t>
            </a:r>
            <a:r>
              <a:rPr sz="1500" spc="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40" dirty="0">
                <a:solidFill>
                  <a:srgbClr val="28282A"/>
                </a:solidFill>
                <a:latin typeface="Arial"/>
                <a:cs typeface="Arial"/>
              </a:rPr>
              <a:t>Uv</a:t>
            </a:r>
            <a:r>
              <a:rPr sz="1500" spc="-40" dirty="0">
                <a:solidFill>
                  <a:srgbClr val="565654"/>
                </a:solidFill>
                <a:latin typeface="Arial"/>
                <a:cs typeface="Arial"/>
              </a:rPr>
              <a:t>ic</a:t>
            </a:r>
            <a:r>
              <a:rPr sz="1500" spc="-40" dirty="0">
                <a:solidFill>
                  <a:srgbClr val="28282A"/>
                </a:solidFill>
                <a:latin typeface="Arial"/>
                <a:cs typeface="Arial"/>
              </a:rPr>
              <a:t>orn</a:t>
            </a:r>
            <a:r>
              <a:rPr sz="1500" spc="-8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3F3F3F"/>
                </a:solidFill>
                <a:latin typeface="Arial"/>
                <a:cs typeface="Arial"/>
              </a:rPr>
              <a:t>(Admin </a:t>
            </a:r>
            <a:r>
              <a:rPr sz="1500" spc="-55" dirty="0">
                <a:solidFill>
                  <a:srgbClr val="3F3F3F"/>
                </a:solidFill>
                <a:latin typeface="Arial"/>
                <a:cs typeface="Arial"/>
              </a:rPr>
              <a:t>and</a:t>
            </a:r>
            <a:r>
              <a:rPr sz="1500" spc="-14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35" dirty="0">
                <a:solidFill>
                  <a:srgbClr val="28282A"/>
                </a:solidFill>
                <a:latin typeface="Arial"/>
                <a:cs typeface="Arial"/>
              </a:rPr>
              <a:t>health-</a:t>
            </a:r>
            <a:r>
              <a:rPr sz="1500" spc="-25" dirty="0">
                <a:solidFill>
                  <a:srgbClr val="28282A"/>
                </a:solidFill>
                <a:latin typeface="Arial"/>
                <a:cs typeface="Arial"/>
              </a:rPr>
              <a:t>check</a:t>
            </a:r>
            <a:r>
              <a:rPr sz="1500" spc="-5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28282A"/>
                </a:solidFill>
                <a:latin typeface="Arial"/>
                <a:cs typeface="Arial"/>
              </a:rPr>
              <a:t>execution)</a:t>
            </a: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500" dirty="0">
              <a:latin typeface="Arial"/>
              <a:cs typeface="Arial"/>
            </a:endParaRPr>
          </a:p>
          <a:p>
            <a:pPr marL="1812289">
              <a:lnSpc>
                <a:spcPct val="100000"/>
              </a:lnSpc>
            </a:pPr>
            <a:r>
              <a:rPr sz="1650" dirty="0">
                <a:solidFill>
                  <a:srgbClr val="3F3F3F"/>
                </a:solidFill>
                <a:latin typeface="Arial"/>
                <a:cs typeface="Arial"/>
              </a:rPr>
              <a:t>Layer</a:t>
            </a:r>
            <a:r>
              <a:rPr sz="1650" spc="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28282A"/>
                </a:solidFill>
                <a:latin typeface="Arial"/>
                <a:cs typeface="Arial"/>
              </a:rPr>
              <a:t>2:</a:t>
            </a:r>
            <a:r>
              <a:rPr sz="1650" spc="-55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650" spc="35" dirty="0">
                <a:solidFill>
                  <a:srgbClr val="28282A"/>
                </a:solidFill>
                <a:latin typeface="Arial"/>
                <a:cs typeface="Arial"/>
              </a:rPr>
              <a:t>Configuration</a:t>
            </a:r>
            <a:endParaRPr sz="1650" dirty="0">
              <a:latin typeface="Arial"/>
              <a:cs typeface="Arial"/>
            </a:endParaRPr>
          </a:p>
          <a:p>
            <a:pPr marL="1807210" marR="516255" indent="-7620">
              <a:lnSpc>
                <a:spcPct val="100000"/>
              </a:lnSpc>
              <a:spcBef>
                <a:spcPts val="580"/>
              </a:spcBef>
            </a:pPr>
            <a:r>
              <a:rPr sz="1500" spc="-40" dirty="0">
                <a:solidFill>
                  <a:srgbClr val="3F3F3F"/>
                </a:solidFill>
                <a:latin typeface="Arial"/>
                <a:cs typeface="Arial"/>
              </a:rPr>
              <a:t>Pydantic</a:t>
            </a:r>
            <a:r>
              <a:rPr sz="1500" spc="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28282A"/>
                </a:solidFill>
                <a:latin typeface="Arial"/>
                <a:cs typeface="Arial"/>
              </a:rPr>
              <a:t>mode</a:t>
            </a:r>
            <a:r>
              <a:rPr sz="1500" spc="-50" dirty="0">
                <a:solidFill>
                  <a:srgbClr val="0F0F11"/>
                </a:solidFill>
                <a:latin typeface="Arial"/>
                <a:cs typeface="Arial"/>
              </a:rPr>
              <a:t>l</a:t>
            </a:r>
            <a:r>
              <a:rPr sz="1500" spc="-50" dirty="0">
                <a:solidFill>
                  <a:srgbClr val="28282A"/>
                </a:solidFill>
                <a:latin typeface="Arial"/>
                <a:cs typeface="Arial"/>
              </a:rPr>
              <a:t>s</a:t>
            </a:r>
            <a:r>
              <a:rPr sz="1500" spc="-20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450" dirty="0">
                <a:solidFill>
                  <a:srgbClr val="28282A"/>
                </a:solidFill>
                <a:latin typeface="Arial"/>
                <a:cs typeface="Arial"/>
              </a:rPr>
              <a:t>&amp; </a:t>
            </a:r>
            <a:r>
              <a:rPr sz="1500" spc="-130" dirty="0">
                <a:solidFill>
                  <a:srgbClr val="28282A"/>
                </a:solidFill>
                <a:latin typeface="Arial"/>
                <a:cs typeface="Arial"/>
              </a:rPr>
              <a:t>YAM</a:t>
            </a:r>
            <a:r>
              <a:rPr sz="1500" spc="-130" dirty="0">
                <a:solidFill>
                  <a:srgbClr val="0F0F11"/>
                </a:solidFill>
                <a:latin typeface="Arial"/>
                <a:cs typeface="Arial"/>
              </a:rPr>
              <a:t>L</a:t>
            </a:r>
            <a:r>
              <a:rPr sz="1500" spc="-220" dirty="0">
                <a:solidFill>
                  <a:srgbClr val="0F0F11"/>
                </a:solidFill>
                <a:latin typeface="Arial"/>
                <a:cs typeface="Arial"/>
              </a:rPr>
              <a:t> </a:t>
            </a:r>
            <a:r>
              <a:rPr sz="1500" spc="-30" dirty="0">
                <a:solidFill>
                  <a:srgbClr val="3F3F3F"/>
                </a:solidFill>
                <a:latin typeface="Arial"/>
                <a:cs typeface="Arial"/>
              </a:rPr>
              <a:t>merging </a:t>
            </a:r>
            <a:r>
              <a:rPr sz="1500" spc="-40" dirty="0">
                <a:solidFill>
                  <a:srgbClr val="3F3F3F"/>
                </a:solidFill>
                <a:latin typeface="Arial"/>
                <a:cs typeface="Arial"/>
              </a:rPr>
              <a:t>credent</a:t>
            </a:r>
            <a:r>
              <a:rPr sz="1500" spc="-40" dirty="0">
                <a:solidFill>
                  <a:srgbClr val="0F0F11"/>
                </a:solidFill>
                <a:latin typeface="Arial"/>
                <a:cs typeface="Arial"/>
              </a:rPr>
              <a:t>i</a:t>
            </a:r>
            <a:r>
              <a:rPr sz="1500" spc="-40" dirty="0">
                <a:solidFill>
                  <a:srgbClr val="28282A"/>
                </a:solidFill>
                <a:latin typeface="Arial"/>
                <a:cs typeface="Arial"/>
              </a:rPr>
              <a:t>als</a:t>
            </a:r>
            <a:r>
              <a:rPr sz="1500" spc="-17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3F3F3F"/>
                </a:solidFill>
                <a:latin typeface="Arial"/>
                <a:cs typeface="Arial"/>
              </a:rPr>
              <a:t>and</a:t>
            </a:r>
            <a:r>
              <a:rPr sz="1500" spc="-3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35" dirty="0">
                <a:solidFill>
                  <a:srgbClr val="3F3F3F"/>
                </a:solidFill>
                <a:latin typeface="Arial"/>
                <a:cs typeface="Arial"/>
              </a:rPr>
              <a:t>toolset</a:t>
            </a:r>
            <a:r>
              <a:rPr sz="1500" spc="-1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Arial"/>
                <a:cs typeface="Arial"/>
              </a:rPr>
              <a:t>se</a:t>
            </a:r>
            <a:r>
              <a:rPr sz="1500" spc="-10" dirty="0">
                <a:solidFill>
                  <a:srgbClr val="0F0F11"/>
                </a:solidFill>
                <a:latin typeface="Arial"/>
                <a:cs typeface="Arial"/>
              </a:rPr>
              <a:t>l</a:t>
            </a:r>
            <a:r>
              <a:rPr sz="1500" spc="-10" dirty="0">
                <a:solidFill>
                  <a:srgbClr val="28282A"/>
                </a:solidFill>
                <a:latin typeface="Arial"/>
                <a:cs typeface="Arial"/>
              </a:rPr>
              <a:t>ect</a:t>
            </a:r>
            <a:r>
              <a:rPr sz="1500" spc="-10" dirty="0">
                <a:solidFill>
                  <a:srgbClr val="0F0F11"/>
                </a:solidFill>
                <a:latin typeface="Arial"/>
                <a:cs typeface="Arial"/>
              </a:rPr>
              <a:t>i</a:t>
            </a:r>
            <a:r>
              <a:rPr sz="1500" spc="-10" dirty="0">
                <a:solidFill>
                  <a:srgbClr val="3F3F3F"/>
                </a:solidFill>
                <a:latin typeface="Arial"/>
                <a:cs typeface="Arial"/>
              </a:rPr>
              <a:t>on</a:t>
            </a: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500" dirty="0">
              <a:latin typeface="Arial"/>
              <a:cs typeface="Arial"/>
            </a:endParaRPr>
          </a:p>
          <a:p>
            <a:pPr marL="1811020">
              <a:lnSpc>
                <a:spcPct val="100000"/>
              </a:lnSpc>
            </a:pPr>
            <a:r>
              <a:rPr sz="1700" b="1" spc="-75" dirty="0">
                <a:solidFill>
                  <a:srgbClr val="9A8759"/>
                </a:solidFill>
                <a:latin typeface="Arial"/>
                <a:cs typeface="Arial"/>
              </a:rPr>
              <a:t>Layer</a:t>
            </a:r>
            <a:r>
              <a:rPr sz="1700" b="1" spc="-15" dirty="0">
                <a:solidFill>
                  <a:srgbClr val="9A8759"/>
                </a:solidFill>
                <a:latin typeface="Arial"/>
                <a:cs typeface="Arial"/>
              </a:rPr>
              <a:t> </a:t>
            </a:r>
            <a:r>
              <a:rPr sz="1700" b="1" spc="50" dirty="0">
                <a:solidFill>
                  <a:srgbClr val="9A8759"/>
                </a:solidFill>
                <a:latin typeface="Arial"/>
                <a:cs typeface="Arial"/>
              </a:rPr>
              <a:t>3:</a:t>
            </a:r>
            <a:r>
              <a:rPr sz="1700" b="1" spc="-220" dirty="0">
                <a:solidFill>
                  <a:srgbClr val="9A8759"/>
                </a:solidFill>
                <a:latin typeface="Arial"/>
                <a:cs typeface="Arial"/>
              </a:rPr>
              <a:t> </a:t>
            </a:r>
            <a:r>
              <a:rPr sz="1700" b="1" spc="-45" dirty="0">
                <a:solidFill>
                  <a:srgbClr val="9A8759"/>
                </a:solidFill>
                <a:latin typeface="Arial"/>
                <a:cs typeface="Arial"/>
              </a:rPr>
              <a:t>Agent</a:t>
            </a:r>
            <a:r>
              <a:rPr sz="1700" b="1" spc="-60" dirty="0">
                <a:solidFill>
                  <a:srgbClr val="9A8759"/>
                </a:solidFill>
                <a:latin typeface="Arial"/>
                <a:cs typeface="Arial"/>
              </a:rPr>
              <a:t> </a:t>
            </a:r>
            <a:r>
              <a:rPr sz="1700" b="1" spc="-10" dirty="0">
                <a:solidFill>
                  <a:srgbClr val="9A8759"/>
                </a:solidFill>
                <a:latin typeface="Arial"/>
                <a:cs typeface="Arial"/>
              </a:rPr>
              <a:t>Orchestration</a:t>
            </a:r>
            <a:endParaRPr sz="1700" dirty="0">
              <a:latin typeface="Arial"/>
              <a:cs typeface="Arial"/>
            </a:endParaRPr>
          </a:p>
          <a:p>
            <a:pPr marL="1803400" marR="697230" indent="6985">
              <a:lnSpc>
                <a:spcPct val="100000"/>
              </a:lnSpc>
              <a:spcBef>
                <a:spcPts val="575"/>
              </a:spcBef>
            </a:pPr>
            <a:r>
              <a:rPr sz="1500" spc="-75" dirty="0">
                <a:solidFill>
                  <a:srgbClr val="3F3F3F"/>
                </a:solidFill>
                <a:latin typeface="Arial"/>
                <a:cs typeface="Arial"/>
              </a:rPr>
              <a:t>ToolCallingLLM</a:t>
            </a:r>
            <a:r>
              <a:rPr sz="1500" spc="-18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90" dirty="0">
                <a:solidFill>
                  <a:srgbClr val="3F3F3F"/>
                </a:solidFill>
                <a:latin typeface="Arial"/>
                <a:cs typeface="Arial"/>
              </a:rPr>
              <a:t>&amp;</a:t>
            </a:r>
            <a:r>
              <a:rPr sz="1500" spc="-204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28282A"/>
                </a:solidFill>
                <a:latin typeface="Arial"/>
                <a:cs typeface="Arial"/>
              </a:rPr>
              <a:t>LiteLLM </a:t>
            </a:r>
            <a:r>
              <a:rPr sz="1500" spc="-60" dirty="0">
                <a:solidFill>
                  <a:srgbClr val="3F3F3F"/>
                </a:solidFill>
                <a:latin typeface="Arial"/>
                <a:cs typeface="Arial"/>
              </a:rPr>
              <a:t>(Normalizes</a:t>
            </a:r>
            <a:r>
              <a:rPr sz="1500" spc="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28282A"/>
                </a:solidFill>
                <a:latin typeface="Arial"/>
                <a:cs typeface="Arial"/>
              </a:rPr>
              <a:t>prov</a:t>
            </a:r>
            <a:r>
              <a:rPr sz="1500" spc="-45" dirty="0">
                <a:solidFill>
                  <a:srgbClr val="565654"/>
                </a:solidFill>
                <a:latin typeface="Arial"/>
                <a:cs typeface="Arial"/>
              </a:rPr>
              <a:t>ide</a:t>
            </a:r>
            <a:r>
              <a:rPr sz="1500" spc="-45" dirty="0">
                <a:solidFill>
                  <a:srgbClr val="28282A"/>
                </a:solidFill>
                <a:latin typeface="Arial"/>
                <a:cs typeface="Arial"/>
              </a:rPr>
              <a:t>r</a:t>
            </a:r>
            <a:r>
              <a:rPr sz="1500" spc="-10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28282A"/>
                </a:solidFill>
                <a:latin typeface="Arial"/>
                <a:cs typeface="Arial"/>
              </a:rPr>
              <a:t>metadata)</a:t>
            </a: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500" dirty="0">
              <a:latin typeface="Arial"/>
              <a:cs typeface="Arial"/>
            </a:endParaRPr>
          </a:p>
          <a:p>
            <a:pPr marL="1800860" indent="11430">
              <a:lnSpc>
                <a:spcPct val="100000"/>
              </a:lnSpc>
            </a:pPr>
            <a:r>
              <a:rPr sz="1650" dirty="0">
                <a:solidFill>
                  <a:srgbClr val="28282A"/>
                </a:solidFill>
                <a:latin typeface="Arial"/>
                <a:cs typeface="Arial"/>
              </a:rPr>
              <a:t>Layer</a:t>
            </a:r>
            <a:r>
              <a:rPr sz="1650" spc="10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28282A"/>
                </a:solidFill>
                <a:latin typeface="Arial"/>
                <a:cs typeface="Arial"/>
              </a:rPr>
              <a:t>4:</a:t>
            </a:r>
            <a:r>
              <a:rPr sz="1650" spc="9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28282A"/>
                </a:solidFill>
                <a:latin typeface="Arial"/>
                <a:cs typeface="Arial"/>
              </a:rPr>
              <a:t>Tool</a:t>
            </a:r>
            <a:r>
              <a:rPr sz="1650" spc="-135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650" spc="40" dirty="0">
                <a:solidFill>
                  <a:srgbClr val="28282A"/>
                </a:solidFill>
                <a:latin typeface="Arial"/>
                <a:cs typeface="Arial"/>
              </a:rPr>
              <a:t>Integration</a:t>
            </a:r>
            <a:endParaRPr sz="1650" dirty="0">
              <a:latin typeface="Arial"/>
              <a:cs typeface="Arial"/>
            </a:endParaRPr>
          </a:p>
          <a:p>
            <a:pPr marL="1799589" marR="793115" indent="635">
              <a:lnSpc>
                <a:spcPct val="100000"/>
              </a:lnSpc>
              <a:spcBef>
                <a:spcPts val="580"/>
              </a:spcBef>
            </a:pPr>
            <a:r>
              <a:rPr sz="1500" spc="-90" dirty="0">
                <a:solidFill>
                  <a:srgbClr val="3F3F3F"/>
                </a:solidFill>
                <a:latin typeface="Arial"/>
                <a:cs typeface="Arial"/>
              </a:rPr>
              <a:t>MCP</a:t>
            </a:r>
            <a:r>
              <a:rPr sz="1500" spc="-11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3F3F3F"/>
                </a:solidFill>
                <a:latin typeface="Arial"/>
                <a:cs typeface="Arial"/>
              </a:rPr>
              <a:t>servers,</a:t>
            </a:r>
            <a:r>
              <a:rPr sz="1500" spc="-10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35" dirty="0">
                <a:solidFill>
                  <a:srgbClr val="3F3F3F"/>
                </a:solidFill>
                <a:latin typeface="Arial"/>
                <a:cs typeface="Arial"/>
              </a:rPr>
              <a:t>Python</a:t>
            </a:r>
            <a:r>
              <a:rPr sz="1500" spc="-114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25" dirty="0">
                <a:solidFill>
                  <a:srgbClr val="3F3F3F"/>
                </a:solidFill>
                <a:latin typeface="Arial"/>
                <a:cs typeface="Arial"/>
              </a:rPr>
              <a:t>toolsets, </a:t>
            </a:r>
            <a:r>
              <a:rPr sz="1500" spc="-90" dirty="0">
                <a:solidFill>
                  <a:srgbClr val="3F3F3F"/>
                </a:solidFill>
                <a:latin typeface="Arial"/>
                <a:cs typeface="Arial"/>
              </a:rPr>
              <a:t>HTTP</a:t>
            </a:r>
            <a:r>
              <a:rPr sz="1500" spc="-6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565654"/>
                </a:solidFill>
                <a:latin typeface="Arial"/>
                <a:cs typeface="Arial"/>
              </a:rPr>
              <a:t>in</a:t>
            </a:r>
            <a:r>
              <a:rPr sz="1500" spc="-10" dirty="0">
                <a:solidFill>
                  <a:srgbClr val="28282A"/>
                </a:solidFill>
                <a:latin typeface="Arial"/>
                <a:cs typeface="Arial"/>
              </a:rPr>
              <a:t>tegrations</a:t>
            </a: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45"/>
              </a:spcBef>
            </a:pPr>
            <a:endParaRPr sz="1500" dirty="0">
              <a:latin typeface="Arial"/>
              <a:cs typeface="Arial"/>
            </a:endParaRPr>
          </a:p>
          <a:p>
            <a:pPr marL="1812289">
              <a:lnSpc>
                <a:spcPct val="100000"/>
              </a:lnSpc>
            </a:pPr>
            <a:r>
              <a:rPr sz="1650" dirty="0">
                <a:solidFill>
                  <a:srgbClr val="28282A"/>
                </a:solidFill>
                <a:latin typeface="Arial"/>
                <a:cs typeface="Arial"/>
              </a:rPr>
              <a:t>Layer</a:t>
            </a:r>
            <a:r>
              <a:rPr sz="1650" spc="60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28282A"/>
                </a:solidFill>
                <a:latin typeface="Arial"/>
                <a:cs typeface="Arial"/>
              </a:rPr>
              <a:t>5:</a:t>
            </a:r>
            <a:r>
              <a:rPr sz="1650" spc="65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28282A"/>
                </a:solidFill>
                <a:latin typeface="Arial"/>
                <a:cs typeface="Arial"/>
              </a:rPr>
              <a:t>Data</a:t>
            </a:r>
            <a:r>
              <a:rPr sz="1650" spc="-75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650" spc="-10" dirty="0">
                <a:solidFill>
                  <a:srgbClr val="28282A"/>
                </a:solidFill>
                <a:latin typeface="Arial"/>
                <a:cs typeface="Arial"/>
              </a:rPr>
              <a:t>Servic</a:t>
            </a:r>
            <a:r>
              <a:rPr sz="1650" spc="-10" dirty="0">
                <a:solidFill>
                  <a:srgbClr val="0F0F11"/>
                </a:solidFill>
                <a:latin typeface="Arial"/>
                <a:cs typeface="Arial"/>
              </a:rPr>
              <a:t>e</a:t>
            </a:r>
            <a:r>
              <a:rPr sz="1650" spc="-10" dirty="0">
                <a:solidFill>
                  <a:srgbClr val="28282A"/>
                </a:solidFill>
                <a:latin typeface="Arial"/>
                <a:cs typeface="Arial"/>
              </a:rPr>
              <a:t>s</a:t>
            </a:r>
            <a:endParaRPr sz="1650" dirty="0">
              <a:latin typeface="Arial"/>
              <a:cs typeface="Arial"/>
            </a:endParaRPr>
          </a:p>
          <a:p>
            <a:pPr marL="1816100" marR="5080" indent="-10160">
              <a:lnSpc>
                <a:spcPct val="100000"/>
              </a:lnSpc>
              <a:spcBef>
                <a:spcPts val="484"/>
              </a:spcBef>
            </a:pPr>
            <a:r>
              <a:rPr sz="1500" spc="-80" dirty="0">
                <a:solidFill>
                  <a:srgbClr val="3F3F3F"/>
                </a:solidFill>
                <a:latin typeface="Arial"/>
                <a:cs typeface="Arial"/>
              </a:rPr>
              <a:t>Supabase</a:t>
            </a:r>
            <a:r>
              <a:rPr sz="1500" spc="-12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3F3F3F"/>
                </a:solidFill>
                <a:latin typeface="Arial"/>
                <a:cs typeface="Arial"/>
              </a:rPr>
              <a:t>DAL,</a:t>
            </a:r>
            <a:r>
              <a:rPr sz="1500" spc="-114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F3F3F"/>
                </a:solidFill>
                <a:latin typeface="Arial"/>
                <a:cs typeface="Arial"/>
              </a:rPr>
              <a:t>file</a:t>
            </a:r>
            <a:r>
              <a:rPr sz="1500" spc="-1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55" dirty="0">
                <a:solidFill>
                  <a:srgbClr val="28282A"/>
                </a:solidFill>
                <a:latin typeface="Arial"/>
                <a:cs typeface="Arial"/>
              </a:rPr>
              <a:t>caches</a:t>
            </a:r>
            <a:r>
              <a:rPr sz="1500" spc="-55" dirty="0">
                <a:solidFill>
                  <a:srgbClr val="565654"/>
                </a:solidFill>
                <a:latin typeface="Arial"/>
                <a:cs typeface="Arial"/>
              </a:rPr>
              <a:t>,</a:t>
            </a:r>
            <a:r>
              <a:rPr sz="1500" spc="-120" dirty="0">
                <a:solidFill>
                  <a:srgbClr val="565654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28282A"/>
                </a:solidFill>
                <a:latin typeface="Arial"/>
                <a:cs typeface="Arial"/>
              </a:rPr>
              <a:t>config</a:t>
            </a:r>
            <a:r>
              <a:rPr sz="1500" spc="-114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500" spc="-80" dirty="0">
                <a:solidFill>
                  <a:srgbClr val="28282A"/>
                </a:solidFill>
                <a:latin typeface="Arial"/>
                <a:cs typeface="Arial"/>
              </a:rPr>
              <a:t>JSON </a:t>
            </a:r>
            <a:r>
              <a:rPr sz="1500" spc="-75" dirty="0">
                <a:solidFill>
                  <a:srgbClr val="3F3F3F"/>
                </a:solidFill>
                <a:latin typeface="Arial"/>
                <a:cs typeface="Arial"/>
              </a:rPr>
              <a:t>(OAuth</a:t>
            </a:r>
            <a:r>
              <a:rPr sz="1500" spc="-10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28282A"/>
                </a:solidFill>
                <a:latin typeface="Arial"/>
                <a:cs typeface="Arial"/>
              </a:rPr>
              <a:t>state</a:t>
            </a:r>
            <a:r>
              <a:rPr sz="1500" spc="-135" dirty="0">
                <a:solidFill>
                  <a:srgbClr val="28282A"/>
                </a:solidFill>
                <a:latin typeface="Arial"/>
                <a:cs typeface="Arial"/>
              </a:rPr>
              <a:t> </a:t>
            </a:r>
            <a:r>
              <a:rPr sz="1500" spc="-55" dirty="0">
                <a:solidFill>
                  <a:srgbClr val="3F3F3F"/>
                </a:solidFill>
                <a:latin typeface="Arial"/>
                <a:cs typeface="Arial"/>
              </a:rPr>
              <a:t>and</a:t>
            </a:r>
            <a:r>
              <a:rPr sz="1500" spc="-6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28282A"/>
                </a:solidFill>
                <a:latin typeface="Arial"/>
                <a:cs typeface="Arial"/>
              </a:rPr>
              <a:t>ope</a:t>
            </a:r>
            <a:r>
              <a:rPr sz="1500" spc="-45" dirty="0">
                <a:solidFill>
                  <a:srgbClr val="565654"/>
                </a:solidFill>
                <a:latin typeface="Arial"/>
                <a:cs typeface="Arial"/>
              </a:rPr>
              <a:t>ra</a:t>
            </a:r>
            <a:r>
              <a:rPr sz="1500" spc="-45" dirty="0">
                <a:solidFill>
                  <a:srgbClr val="28282A"/>
                </a:solidFill>
                <a:latin typeface="Arial"/>
                <a:cs typeface="Arial"/>
              </a:rPr>
              <a:t>t</a:t>
            </a:r>
            <a:r>
              <a:rPr sz="1500" spc="-45" dirty="0">
                <a:solidFill>
                  <a:srgbClr val="565654"/>
                </a:solidFill>
                <a:latin typeface="Arial"/>
                <a:cs typeface="Arial"/>
              </a:rPr>
              <a:t>ional</a:t>
            </a:r>
            <a:r>
              <a:rPr sz="1500" spc="-215" dirty="0">
                <a:solidFill>
                  <a:srgbClr val="565654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3F3F3F"/>
                </a:solidFill>
                <a:latin typeface="Arial"/>
                <a:cs typeface="Arial"/>
              </a:rPr>
              <a:t>metadata)</a:t>
            </a:r>
            <a:endParaRPr sz="15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998B1CD-D936-4F3D-A55E-A74865F79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7"/>
            <a:ext cx="17475200" cy="9749943"/>
          </a:xfrm>
          <a:prstGeom prst="rect">
            <a:avLst/>
          </a:prstGeom>
        </p:spPr>
      </p:pic>
      <p:sp>
        <p:nvSpPr>
          <p:cNvPr id="23" name="object 23" descr="$PPTXTitle"/>
          <p:cNvSpPr txBox="1">
            <a:spLocks noGrp="1"/>
          </p:cNvSpPr>
          <p:nvPr>
            <p:ph type="title"/>
          </p:nvPr>
        </p:nvSpPr>
        <p:spPr>
          <a:xfrm>
            <a:off x="1521608" y="287570"/>
            <a:ext cx="4720590" cy="2579552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12700" marR="5080" indent="3810">
              <a:lnSpc>
                <a:spcPts val="6330"/>
              </a:lnSpc>
              <a:spcBef>
                <a:spcPts val="1215"/>
              </a:spcBef>
            </a:pPr>
            <a:r>
              <a:rPr sz="6150" b="1" spc="-260" dirty="0">
                <a:solidFill>
                  <a:srgbClr val="11151D"/>
                </a:solidFill>
                <a:latin typeface="Times New Roman"/>
                <a:cs typeface="Times New Roman"/>
              </a:rPr>
              <a:t>Me</a:t>
            </a:r>
            <a:r>
              <a:rPr lang="en-US" sz="6150" b="1" spc="-260" dirty="0">
                <a:solidFill>
                  <a:srgbClr val="11151D"/>
                </a:solidFill>
                <a:latin typeface="Times New Roman"/>
                <a:cs typeface="Times New Roman"/>
              </a:rPr>
              <a:t>m</a:t>
            </a:r>
            <a:r>
              <a:rPr sz="6150" b="1" spc="-260" dirty="0">
                <a:solidFill>
                  <a:srgbClr val="11151D"/>
                </a:solidFill>
                <a:latin typeface="Times New Roman"/>
                <a:cs typeface="Times New Roman"/>
              </a:rPr>
              <a:t>ory-</a:t>
            </a:r>
            <a:r>
              <a:rPr sz="6150" b="1" spc="-20" dirty="0">
                <a:solidFill>
                  <a:srgbClr val="11151D"/>
                </a:solidFill>
                <a:latin typeface="Times New Roman"/>
                <a:cs typeface="Times New Roman"/>
              </a:rPr>
              <a:t>Safe </a:t>
            </a:r>
            <a:r>
              <a:rPr sz="6150" b="1" spc="-35" dirty="0">
                <a:solidFill>
                  <a:srgbClr val="11151D"/>
                </a:solidFill>
                <a:latin typeface="Times New Roman"/>
                <a:cs typeface="Times New Roman"/>
              </a:rPr>
              <a:t>Execution</a:t>
            </a:r>
            <a:r>
              <a:rPr sz="6150" b="1" spc="-320" dirty="0">
                <a:solidFill>
                  <a:srgbClr val="11151D"/>
                </a:solidFill>
                <a:latin typeface="Times New Roman"/>
                <a:cs typeface="Times New Roman"/>
              </a:rPr>
              <a:t> </a:t>
            </a:r>
            <a:r>
              <a:rPr sz="6150" b="1" spc="-25" dirty="0">
                <a:solidFill>
                  <a:srgbClr val="11151D"/>
                </a:solidFill>
                <a:latin typeface="Times New Roman"/>
                <a:cs typeface="Times New Roman"/>
              </a:rPr>
              <a:t>at </a:t>
            </a:r>
            <a:r>
              <a:rPr sz="6150" b="1" spc="-70" dirty="0">
                <a:solidFill>
                  <a:srgbClr val="11151D"/>
                </a:solidFill>
                <a:latin typeface="Times New Roman"/>
                <a:cs typeface="Times New Roman"/>
              </a:rPr>
              <a:t>Petabyte</a:t>
            </a:r>
            <a:r>
              <a:rPr sz="6150" b="1" spc="-260" dirty="0">
                <a:solidFill>
                  <a:srgbClr val="11151D"/>
                </a:solidFill>
                <a:latin typeface="Times New Roman"/>
                <a:cs typeface="Times New Roman"/>
              </a:rPr>
              <a:t> </a:t>
            </a:r>
            <a:r>
              <a:rPr sz="6150" b="1" spc="-75" dirty="0">
                <a:solidFill>
                  <a:srgbClr val="11151D"/>
                </a:solidFill>
                <a:latin typeface="Times New Roman"/>
                <a:cs typeface="Times New Roman"/>
              </a:rPr>
              <a:t>Scale</a:t>
            </a:r>
            <a:endParaRPr sz="615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54722" y="1200349"/>
            <a:ext cx="2784475" cy="91694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5080" indent="3175" algn="just">
              <a:lnSpc>
                <a:spcPct val="103600"/>
              </a:lnSpc>
              <a:spcBef>
                <a:spcPts val="25"/>
              </a:spcBef>
            </a:pPr>
            <a:r>
              <a:rPr sz="1900" spc="-100" dirty="0">
                <a:solidFill>
                  <a:srgbClr val="2B2A2B"/>
                </a:solidFill>
                <a:latin typeface="Arial"/>
                <a:cs typeface="Arial"/>
              </a:rPr>
              <a:t>Prevents</a:t>
            </a:r>
            <a:r>
              <a:rPr sz="1900" spc="25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105" dirty="0">
                <a:solidFill>
                  <a:srgbClr val="2B2A2B"/>
                </a:solidFill>
                <a:latin typeface="Arial"/>
                <a:cs typeface="Arial"/>
              </a:rPr>
              <a:t>massive</a:t>
            </a:r>
            <a:r>
              <a:rPr sz="1900" spc="-3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B2A2B"/>
                </a:solidFill>
                <a:latin typeface="Arial"/>
                <a:cs typeface="Arial"/>
              </a:rPr>
              <a:t>payloads </a:t>
            </a:r>
            <a:r>
              <a:rPr sz="1900" spc="-105" dirty="0">
                <a:solidFill>
                  <a:srgbClr val="2B2A2B"/>
                </a:solidFill>
                <a:latin typeface="Arial"/>
                <a:cs typeface="Arial"/>
              </a:rPr>
              <a:t>from</a:t>
            </a:r>
            <a:r>
              <a:rPr sz="1900" spc="-3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2B2A2B"/>
                </a:solidFill>
                <a:latin typeface="Arial"/>
                <a:cs typeface="Arial"/>
              </a:rPr>
              <a:t>ever</a:t>
            </a:r>
            <a:r>
              <a:rPr sz="1900" spc="-35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2B2A2B"/>
                </a:solidFill>
                <a:latin typeface="Arial"/>
                <a:cs typeface="Arial"/>
              </a:rPr>
              <a:t>reaching</a:t>
            </a:r>
            <a:r>
              <a:rPr sz="1900" spc="4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45" dirty="0">
                <a:solidFill>
                  <a:srgbClr val="2B2A2B"/>
                </a:solidFill>
                <a:latin typeface="Arial"/>
                <a:cs typeface="Arial"/>
              </a:rPr>
              <a:t>the</a:t>
            </a:r>
            <a:r>
              <a:rPr sz="1900" spc="-65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B2A2B"/>
                </a:solidFill>
                <a:latin typeface="Arial"/>
                <a:cs typeface="Arial"/>
              </a:rPr>
              <a:t>LLM </a:t>
            </a:r>
            <a:r>
              <a:rPr sz="1900" spc="-45" dirty="0">
                <a:solidFill>
                  <a:srgbClr val="2B2A2B"/>
                </a:solidFill>
                <a:latin typeface="Arial"/>
                <a:cs typeface="Arial"/>
              </a:rPr>
              <a:t>context</a:t>
            </a:r>
            <a:r>
              <a:rPr sz="1900" spc="-95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B2A2B"/>
                </a:solidFill>
                <a:latin typeface="Arial"/>
                <a:cs typeface="Arial"/>
              </a:rPr>
              <a:t>window.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747535" y="1200349"/>
            <a:ext cx="3255645" cy="6102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8255">
              <a:lnSpc>
                <a:spcPct val="101400"/>
              </a:lnSpc>
              <a:spcBef>
                <a:spcPts val="75"/>
              </a:spcBef>
            </a:pPr>
            <a:r>
              <a:rPr sz="1900" spc="-60" dirty="0">
                <a:solidFill>
                  <a:srgbClr val="2B2A2B"/>
                </a:solidFill>
                <a:latin typeface="Arial"/>
                <a:cs typeface="Arial"/>
              </a:rPr>
              <a:t>Extracts</a:t>
            </a:r>
            <a:r>
              <a:rPr sz="1900" spc="-14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35" dirty="0">
                <a:solidFill>
                  <a:srgbClr val="2B2A2B"/>
                </a:solidFill>
                <a:latin typeface="Arial"/>
                <a:cs typeface="Arial"/>
              </a:rPr>
              <a:t>only</a:t>
            </a:r>
            <a:r>
              <a:rPr sz="1900" spc="-165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B2A2B"/>
                </a:solidFill>
                <a:latin typeface="Arial"/>
                <a:cs typeface="Arial"/>
              </a:rPr>
              <a:t>the</a:t>
            </a:r>
            <a:r>
              <a:rPr sz="1900" spc="-25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60" dirty="0">
                <a:solidFill>
                  <a:srgbClr val="2B2A2B"/>
                </a:solidFill>
                <a:latin typeface="Arial"/>
                <a:cs typeface="Arial"/>
              </a:rPr>
              <a:t>re</a:t>
            </a:r>
            <a:r>
              <a:rPr sz="1900" spc="-60" dirty="0">
                <a:solidFill>
                  <a:srgbClr val="11151D"/>
                </a:solidFill>
                <a:latin typeface="Arial"/>
                <a:cs typeface="Arial"/>
              </a:rPr>
              <a:t>q</a:t>
            </a:r>
            <a:r>
              <a:rPr sz="1900" spc="-60" dirty="0">
                <a:solidFill>
                  <a:srgbClr val="2B2A2B"/>
                </a:solidFill>
                <a:latin typeface="Arial"/>
                <a:cs typeface="Arial"/>
              </a:rPr>
              <a:t>uired</a:t>
            </a:r>
            <a:r>
              <a:rPr sz="1900" spc="-13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45" dirty="0">
                <a:solidFill>
                  <a:srgbClr val="2B2A2B"/>
                </a:solidFill>
                <a:latin typeface="Arial"/>
                <a:cs typeface="Arial"/>
              </a:rPr>
              <a:t>nodes </a:t>
            </a:r>
            <a:r>
              <a:rPr sz="1900" dirty="0">
                <a:solidFill>
                  <a:srgbClr val="2B2A2B"/>
                </a:solidFill>
                <a:latin typeface="Arial"/>
                <a:cs typeface="Arial"/>
              </a:rPr>
              <a:t>f</a:t>
            </a:r>
            <a:r>
              <a:rPr sz="1900" dirty="0">
                <a:solidFill>
                  <a:srgbClr val="11151D"/>
                </a:solidFill>
                <a:latin typeface="Arial"/>
                <a:cs typeface="Arial"/>
              </a:rPr>
              <a:t>r</a:t>
            </a:r>
            <a:r>
              <a:rPr sz="1900" dirty="0">
                <a:solidFill>
                  <a:srgbClr val="2B2A2B"/>
                </a:solidFill>
                <a:latin typeface="Arial"/>
                <a:cs typeface="Arial"/>
              </a:rPr>
              <a:t>om</a:t>
            </a:r>
            <a:r>
              <a:rPr sz="1900" spc="-215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2B2A2B"/>
                </a:solidFill>
                <a:latin typeface="Arial"/>
                <a:cs typeface="Arial"/>
              </a:rPr>
              <a:t>deep</a:t>
            </a:r>
            <a:r>
              <a:rPr sz="1900" spc="-7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60" dirty="0">
                <a:solidFill>
                  <a:srgbClr val="2B2A2B"/>
                </a:solidFill>
                <a:latin typeface="Arial"/>
                <a:cs typeface="Arial"/>
              </a:rPr>
              <a:t>API</a:t>
            </a:r>
            <a:r>
              <a:rPr sz="1900" spc="-245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11151D"/>
                </a:solidFill>
                <a:latin typeface="Arial"/>
                <a:cs typeface="Arial"/>
              </a:rPr>
              <a:t>r</a:t>
            </a:r>
            <a:r>
              <a:rPr sz="1900" spc="-10" dirty="0">
                <a:solidFill>
                  <a:srgbClr val="2B2A2B"/>
                </a:solidFill>
                <a:latin typeface="Arial"/>
                <a:cs typeface="Arial"/>
              </a:rPr>
              <a:t>esponses.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74471" y="6664258"/>
            <a:ext cx="3121660" cy="6102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5875" marR="5080" indent="-3810">
              <a:lnSpc>
                <a:spcPct val="101400"/>
              </a:lnSpc>
              <a:spcBef>
                <a:spcPts val="75"/>
              </a:spcBef>
            </a:pPr>
            <a:r>
              <a:rPr sz="1900" spc="-95" dirty="0">
                <a:solidFill>
                  <a:srgbClr val="2B2A2B"/>
                </a:solidFill>
                <a:latin typeface="Arial"/>
                <a:cs typeface="Arial"/>
              </a:rPr>
              <a:t>Enforces</a:t>
            </a:r>
            <a:r>
              <a:rPr sz="1900" spc="-5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30" dirty="0">
                <a:solidFill>
                  <a:srgbClr val="2B2A2B"/>
                </a:solidFill>
                <a:latin typeface="Arial"/>
                <a:cs typeface="Arial"/>
              </a:rPr>
              <a:t>strict</a:t>
            </a:r>
            <a:r>
              <a:rPr sz="1900" spc="-15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45" dirty="0">
                <a:solidFill>
                  <a:srgbClr val="2B2A2B"/>
                </a:solidFill>
                <a:latin typeface="Arial"/>
                <a:cs typeface="Arial"/>
              </a:rPr>
              <a:t>per-</a:t>
            </a:r>
            <a:r>
              <a:rPr sz="1900" spc="-40" dirty="0">
                <a:solidFill>
                  <a:srgbClr val="2B2A2B"/>
                </a:solidFill>
                <a:latin typeface="Arial"/>
                <a:cs typeface="Arial"/>
              </a:rPr>
              <a:t>tool</a:t>
            </a:r>
            <a:r>
              <a:rPr sz="1900" spc="-254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70" dirty="0">
                <a:solidFill>
                  <a:srgbClr val="2B2A2B"/>
                </a:solidFill>
                <a:latin typeface="Arial"/>
                <a:cs typeface="Arial"/>
              </a:rPr>
              <a:t>memory </a:t>
            </a:r>
            <a:r>
              <a:rPr sz="1900" spc="-10" dirty="0">
                <a:solidFill>
                  <a:srgbClr val="050707"/>
                </a:solidFill>
                <a:latin typeface="Arial"/>
                <a:cs typeface="Arial"/>
              </a:rPr>
              <a:t>l</a:t>
            </a:r>
            <a:r>
              <a:rPr sz="1900" spc="-10" dirty="0">
                <a:solidFill>
                  <a:srgbClr val="2B2A2B"/>
                </a:solidFill>
                <a:latin typeface="Arial"/>
                <a:cs typeface="Arial"/>
              </a:rPr>
              <a:t>im</a:t>
            </a:r>
            <a:r>
              <a:rPr sz="1900" spc="-10" dirty="0">
                <a:solidFill>
                  <a:srgbClr val="11151D"/>
                </a:solidFill>
                <a:latin typeface="Arial"/>
                <a:cs typeface="Arial"/>
              </a:rPr>
              <a:t>i</a:t>
            </a:r>
            <a:r>
              <a:rPr sz="1900" spc="-10" dirty="0">
                <a:solidFill>
                  <a:srgbClr val="2B2A2B"/>
                </a:solidFill>
                <a:latin typeface="Arial"/>
                <a:cs typeface="Arial"/>
              </a:rPr>
              <a:t>ts.</a:t>
            </a:r>
            <a:endParaRPr sz="190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58920" y="8091513"/>
            <a:ext cx="3307715" cy="93218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indent="9525">
              <a:lnSpc>
                <a:spcPct val="103600"/>
              </a:lnSpc>
              <a:spcBef>
                <a:spcPts val="145"/>
              </a:spcBef>
            </a:pPr>
            <a:r>
              <a:rPr sz="1900" spc="-105" dirty="0">
                <a:solidFill>
                  <a:srgbClr val="2B2A2B"/>
                </a:solidFill>
                <a:latin typeface="Arial"/>
                <a:cs typeface="Arial"/>
              </a:rPr>
              <a:t>Tempo</a:t>
            </a:r>
            <a:r>
              <a:rPr sz="1900" spc="-105" dirty="0">
                <a:solidFill>
                  <a:srgbClr val="11151D"/>
                </a:solidFill>
                <a:latin typeface="Arial"/>
                <a:cs typeface="Arial"/>
              </a:rPr>
              <a:t>r</a:t>
            </a:r>
            <a:r>
              <a:rPr sz="1900" spc="-105" dirty="0">
                <a:solidFill>
                  <a:srgbClr val="2B2A2B"/>
                </a:solidFill>
                <a:latin typeface="Arial"/>
                <a:cs typeface="Arial"/>
              </a:rPr>
              <a:t>a</a:t>
            </a:r>
            <a:r>
              <a:rPr sz="1900" spc="-105" dirty="0">
                <a:solidFill>
                  <a:srgbClr val="11151D"/>
                </a:solidFill>
                <a:latin typeface="Arial"/>
                <a:cs typeface="Arial"/>
              </a:rPr>
              <a:t>r</a:t>
            </a:r>
            <a:r>
              <a:rPr sz="1900" spc="-105" dirty="0">
                <a:solidFill>
                  <a:srgbClr val="2B2A2B"/>
                </a:solidFill>
                <a:latin typeface="Arial"/>
                <a:cs typeface="Arial"/>
              </a:rPr>
              <a:t>ily</a:t>
            </a:r>
            <a:r>
              <a:rPr sz="1900" spc="-15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80" dirty="0">
                <a:solidFill>
                  <a:srgbClr val="2B2A2B"/>
                </a:solidFill>
                <a:latin typeface="Arial"/>
                <a:cs typeface="Arial"/>
              </a:rPr>
              <a:t>spools</a:t>
            </a:r>
            <a:r>
              <a:rPr sz="1900" spc="-19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10" dirty="0">
                <a:solidFill>
                  <a:srgbClr val="2B2A2B"/>
                </a:solidFill>
                <a:latin typeface="Arial"/>
                <a:cs typeface="Arial"/>
              </a:rPr>
              <a:t>exceptionally </a:t>
            </a:r>
            <a:r>
              <a:rPr sz="1900" spc="-90" dirty="0">
                <a:solidFill>
                  <a:srgbClr val="2B2A2B"/>
                </a:solidFill>
                <a:latin typeface="Arial"/>
                <a:cs typeface="Arial"/>
              </a:rPr>
              <a:t>large</a:t>
            </a:r>
            <a:r>
              <a:rPr sz="1900" spc="-8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75" dirty="0">
                <a:solidFill>
                  <a:srgbClr val="2B2A2B"/>
                </a:solidFill>
                <a:latin typeface="Arial"/>
                <a:cs typeface="Arial"/>
              </a:rPr>
              <a:t>diagnost</a:t>
            </a:r>
            <a:r>
              <a:rPr sz="1900" spc="-75" dirty="0">
                <a:solidFill>
                  <a:srgbClr val="050707"/>
                </a:solidFill>
                <a:latin typeface="Arial"/>
                <a:cs typeface="Arial"/>
              </a:rPr>
              <a:t>i</a:t>
            </a:r>
            <a:r>
              <a:rPr sz="1900" spc="-75" dirty="0">
                <a:solidFill>
                  <a:srgbClr val="424242"/>
                </a:solidFill>
                <a:latin typeface="Arial"/>
                <a:cs typeface="Arial"/>
              </a:rPr>
              <a:t>c</a:t>
            </a:r>
            <a:r>
              <a:rPr sz="1900" spc="-110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900" spc="-65" dirty="0">
                <a:solidFill>
                  <a:srgbClr val="11151D"/>
                </a:solidFill>
                <a:latin typeface="Arial"/>
                <a:cs typeface="Arial"/>
              </a:rPr>
              <a:t>r</a:t>
            </a:r>
            <a:r>
              <a:rPr sz="1900" spc="-65" dirty="0">
                <a:solidFill>
                  <a:srgbClr val="2B2A2B"/>
                </a:solidFill>
                <a:latin typeface="Arial"/>
                <a:cs typeface="Arial"/>
              </a:rPr>
              <a:t>esults</a:t>
            </a:r>
            <a:r>
              <a:rPr sz="1900" spc="-11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B2A2B"/>
                </a:solidFill>
                <a:latin typeface="Arial"/>
                <a:cs typeface="Arial"/>
              </a:rPr>
              <a:t>to</a:t>
            </a:r>
            <a:r>
              <a:rPr sz="1900" spc="-18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20" dirty="0">
                <a:solidFill>
                  <a:srgbClr val="2B2A2B"/>
                </a:solidFill>
                <a:latin typeface="Arial"/>
                <a:cs typeface="Arial"/>
              </a:rPr>
              <a:t>d</a:t>
            </a:r>
            <a:r>
              <a:rPr sz="1900" spc="-20" dirty="0">
                <a:solidFill>
                  <a:srgbClr val="050707"/>
                </a:solidFill>
                <a:latin typeface="Arial"/>
                <a:cs typeface="Arial"/>
              </a:rPr>
              <a:t>i</a:t>
            </a:r>
            <a:r>
              <a:rPr sz="1900" spc="-20" dirty="0">
                <a:solidFill>
                  <a:srgbClr val="2B2A2B"/>
                </a:solidFill>
                <a:latin typeface="Arial"/>
                <a:cs typeface="Arial"/>
              </a:rPr>
              <a:t>sk, </a:t>
            </a:r>
            <a:r>
              <a:rPr sz="1900" spc="-60" dirty="0">
                <a:solidFill>
                  <a:srgbClr val="2B2A2B"/>
                </a:solidFill>
                <a:latin typeface="Arial"/>
                <a:cs typeface="Arial"/>
              </a:rPr>
              <a:t>en</a:t>
            </a:r>
            <a:r>
              <a:rPr sz="1900" spc="-60" dirty="0">
                <a:solidFill>
                  <a:srgbClr val="11151D"/>
                </a:solidFill>
                <a:latin typeface="Arial"/>
                <a:cs typeface="Arial"/>
              </a:rPr>
              <a:t>t</a:t>
            </a:r>
            <a:r>
              <a:rPr sz="1900" spc="-60" dirty="0">
                <a:solidFill>
                  <a:srgbClr val="2B2A2B"/>
                </a:solidFill>
                <a:latin typeface="Arial"/>
                <a:cs typeface="Arial"/>
              </a:rPr>
              <a:t>irely</a:t>
            </a:r>
            <a:r>
              <a:rPr sz="1900" spc="-18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95" dirty="0">
                <a:solidFill>
                  <a:srgbClr val="2B2A2B"/>
                </a:solidFill>
                <a:latin typeface="Arial"/>
                <a:cs typeface="Arial"/>
              </a:rPr>
              <a:t>eliminating</a:t>
            </a:r>
            <a:r>
              <a:rPr sz="1900" spc="-50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175" dirty="0">
                <a:solidFill>
                  <a:srgbClr val="2B2A2B"/>
                </a:solidFill>
                <a:latin typeface="Arial"/>
                <a:cs typeface="Arial"/>
              </a:rPr>
              <a:t>OOM</a:t>
            </a:r>
            <a:r>
              <a:rPr sz="1900" spc="-155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dirty="0">
                <a:solidFill>
                  <a:srgbClr val="2B2A2B"/>
                </a:solidFill>
                <a:latin typeface="Arial"/>
                <a:cs typeface="Arial"/>
              </a:rPr>
              <a:t>k</a:t>
            </a:r>
            <a:r>
              <a:rPr sz="1900" dirty="0">
                <a:solidFill>
                  <a:srgbClr val="050707"/>
                </a:solidFill>
                <a:latin typeface="Arial"/>
                <a:cs typeface="Arial"/>
              </a:rPr>
              <a:t>i</a:t>
            </a:r>
            <a:r>
              <a:rPr sz="1900" dirty="0">
                <a:solidFill>
                  <a:srgbClr val="2B2A2B"/>
                </a:solidFill>
                <a:latin typeface="Arial"/>
                <a:cs typeface="Arial"/>
              </a:rPr>
              <a:t>ll</a:t>
            </a:r>
            <a:r>
              <a:rPr sz="1900" spc="-235" dirty="0">
                <a:solidFill>
                  <a:srgbClr val="2B2A2B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B2A2B"/>
                </a:solidFill>
                <a:latin typeface="Arial"/>
                <a:cs typeface="Arial"/>
              </a:rPr>
              <a:t>risks.</a:t>
            </a:r>
            <a:endParaRPr sz="1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A86593B4-C9EB-4B72-B3FE-6FE201AA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"/>
            <a:ext cx="17475200" cy="9749943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ts val="6815"/>
              </a:lnSpc>
              <a:spcBef>
                <a:spcPts val="130"/>
              </a:spcBef>
            </a:pPr>
            <a:r>
              <a:rPr sz="5350" b="1" dirty="0">
                <a:solidFill>
                  <a:srgbClr val="1A1F2A"/>
                </a:solidFill>
                <a:latin typeface="Times New Roman"/>
                <a:cs typeface="Times New Roman"/>
              </a:rPr>
              <a:t>Zero-Trust</a:t>
            </a:r>
            <a:r>
              <a:rPr sz="5350" b="1" spc="40" dirty="0">
                <a:solidFill>
                  <a:srgbClr val="1A1F2A"/>
                </a:solidFill>
                <a:latin typeface="Times New Roman"/>
                <a:cs typeface="Times New Roman"/>
              </a:rPr>
              <a:t> </a:t>
            </a:r>
            <a:r>
              <a:rPr sz="5350" b="1" spc="135" dirty="0">
                <a:solidFill>
                  <a:srgbClr val="1A1F2A"/>
                </a:solidFill>
                <a:latin typeface="Times New Roman"/>
                <a:cs typeface="Times New Roman"/>
              </a:rPr>
              <a:t>Deployment</a:t>
            </a:r>
            <a:r>
              <a:rPr sz="5350" b="1" spc="15" dirty="0">
                <a:solidFill>
                  <a:srgbClr val="1A1F2A"/>
                </a:solidFill>
                <a:latin typeface="Times New Roman"/>
                <a:cs typeface="Times New Roman"/>
              </a:rPr>
              <a:t> </a:t>
            </a:r>
            <a:r>
              <a:rPr sz="5750" spc="-455" dirty="0">
                <a:solidFill>
                  <a:srgbClr val="1A1F2A"/>
                </a:solidFill>
              </a:rPr>
              <a:t>&amp;</a:t>
            </a:r>
            <a:endParaRPr sz="5750" dirty="0">
              <a:latin typeface="Times New Roman"/>
              <a:cs typeface="Times New Roman"/>
            </a:endParaRPr>
          </a:p>
          <a:p>
            <a:pPr marL="12700">
              <a:lnSpc>
                <a:spcPts val="6335"/>
              </a:lnSpc>
            </a:pPr>
            <a:r>
              <a:rPr sz="5350" b="1" dirty="0">
                <a:solidFill>
                  <a:srgbClr val="1A1F2A"/>
                </a:solidFill>
                <a:latin typeface="Times New Roman"/>
                <a:cs typeface="Times New Roman"/>
              </a:rPr>
              <a:t>Enterprise</a:t>
            </a:r>
            <a:r>
              <a:rPr sz="5350" b="1" spc="315" dirty="0">
                <a:solidFill>
                  <a:srgbClr val="1A1F2A"/>
                </a:solidFill>
                <a:latin typeface="Times New Roman"/>
                <a:cs typeface="Times New Roman"/>
              </a:rPr>
              <a:t> </a:t>
            </a:r>
            <a:r>
              <a:rPr sz="5350" b="1" spc="60" dirty="0">
                <a:solidFill>
                  <a:srgbClr val="1A1F2A"/>
                </a:solidFill>
                <a:latin typeface="Times New Roman"/>
                <a:cs typeface="Times New Roman"/>
              </a:rPr>
              <a:t>Safeguards</a:t>
            </a:r>
            <a:endParaRPr sz="53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8">
            <a:extLst>
              <a:ext uri="{FF2B5EF4-FFF2-40B4-BE49-F238E27FC236}">
                <a16:creationId xmlns:a16="http://schemas.microsoft.com/office/drawing/2014/main" id="{6ADF67E1-8F98-4E56-8E48-49150BA45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"/>
            <a:ext cx="17475200" cy="9749943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857753" y="5757862"/>
            <a:ext cx="3387090" cy="182816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6530" marR="175260" indent="1043305">
              <a:lnSpc>
                <a:spcPct val="101200"/>
              </a:lnSpc>
              <a:spcBef>
                <a:spcPts val="75"/>
              </a:spcBef>
            </a:pPr>
            <a:r>
              <a:rPr sz="2400" b="1" spc="-60" dirty="0">
                <a:solidFill>
                  <a:srgbClr val="010101"/>
                </a:solidFill>
                <a:latin typeface="Arial"/>
                <a:cs typeface="Arial"/>
              </a:rPr>
              <a:t>Step</a:t>
            </a:r>
            <a:r>
              <a:rPr sz="2400" b="1" spc="-1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400" b="1" spc="40" dirty="0">
                <a:solidFill>
                  <a:srgbClr val="010101"/>
                </a:solidFill>
                <a:latin typeface="Arial"/>
                <a:cs typeface="Arial"/>
              </a:rPr>
              <a:t>1</a:t>
            </a:r>
            <a:r>
              <a:rPr sz="2400" b="1" spc="40" dirty="0">
                <a:solidFill>
                  <a:srgbClr val="262624"/>
                </a:solidFill>
                <a:latin typeface="Arial"/>
                <a:cs typeface="Arial"/>
              </a:rPr>
              <a:t>: </a:t>
            </a:r>
            <a:r>
              <a:rPr sz="2400" b="1" spc="-120" dirty="0">
                <a:solidFill>
                  <a:srgbClr val="010101"/>
                </a:solidFill>
                <a:latin typeface="Arial"/>
                <a:cs typeface="Arial"/>
              </a:rPr>
              <a:t>Background</a:t>
            </a:r>
            <a:r>
              <a:rPr sz="2400" b="1" spc="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400" b="1" spc="-75" dirty="0">
                <a:solidFill>
                  <a:srgbClr val="010101"/>
                </a:solidFill>
                <a:latin typeface="Arial"/>
                <a:cs typeface="Arial"/>
              </a:rPr>
              <a:t>Detection</a:t>
            </a:r>
            <a:endParaRPr sz="2400" dirty="0">
              <a:latin typeface="Arial"/>
              <a:cs typeface="Arial"/>
            </a:endParaRPr>
          </a:p>
          <a:p>
            <a:pPr marL="12700" marR="5080" algn="ctr">
              <a:lnSpc>
                <a:spcPct val="97700"/>
              </a:lnSpc>
              <a:spcBef>
                <a:spcPts val="1000"/>
              </a:spcBef>
            </a:pPr>
            <a:r>
              <a:rPr sz="2100" spc="-125" dirty="0">
                <a:solidFill>
                  <a:srgbClr val="262624"/>
                </a:solidFill>
                <a:latin typeface="Arial"/>
                <a:cs typeface="Arial"/>
              </a:rPr>
              <a:t>UTE</a:t>
            </a:r>
            <a:r>
              <a:rPr sz="2100" spc="-17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65" dirty="0">
                <a:solidFill>
                  <a:srgbClr val="262624"/>
                </a:solidFill>
                <a:latin typeface="Arial"/>
                <a:cs typeface="Arial"/>
              </a:rPr>
              <a:t>Operator</a:t>
            </a:r>
            <a:r>
              <a:rPr sz="2100" spc="5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62624"/>
                </a:solidFill>
                <a:latin typeface="Arial"/>
                <a:cs typeface="Arial"/>
              </a:rPr>
              <a:t>spots</a:t>
            </a:r>
            <a:r>
              <a:rPr sz="2100" spc="-15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40" dirty="0">
                <a:solidFill>
                  <a:srgbClr val="262624"/>
                </a:solidFill>
                <a:latin typeface="Arial"/>
                <a:cs typeface="Arial"/>
              </a:rPr>
              <a:t>database deployment</a:t>
            </a:r>
            <a:r>
              <a:rPr sz="2100" spc="-2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62624"/>
                </a:solidFill>
                <a:latin typeface="Arial"/>
                <a:cs typeface="Arial"/>
              </a:rPr>
              <a:t>dr</a:t>
            </a:r>
            <a:r>
              <a:rPr sz="2100" dirty="0">
                <a:solidFill>
                  <a:srgbClr val="424242"/>
                </a:solidFill>
                <a:latin typeface="Arial"/>
                <a:cs typeface="Arial"/>
              </a:rPr>
              <a:t>i</a:t>
            </a:r>
            <a:r>
              <a:rPr sz="2100" dirty="0">
                <a:solidFill>
                  <a:srgbClr val="262624"/>
                </a:solidFill>
                <a:latin typeface="Arial"/>
                <a:cs typeface="Arial"/>
              </a:rPr>
              <a:t>ft</a:t>
            </a:r>
            <a:r>
              <a:rPr sz="2100" spc="10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62624"/>
                </a:solidFill>
                <a:latin typeface="Arial"/>
                <a:cs typeface="Arial"/>
              </a:rPr>
              <a:t>via</a:t>
            </a:r>
            <a:r>
              <a:rPr sz="2100" spc="-10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ArgoCD </a:t>
            </a:r>
            <a:r>
              <a:rPr sz="2100" spc="-10" dirty="0">
                <a:solidFill>
                  <a:srgbClr val="111113"/>
                </a:solidFill>
                <a:latin typeface="Arial"/>
                <a:cs typeface="Arial"/>
              </a:rPr>
              <a:t>health</a:t>
            </a:r>
            <a:r>
              <a:rPr sz="2100" spc="-120" dirty="0">
                <a:solidFill>
                  <a:srgbClr val="111113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check.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84002" y="8132297"/>
            <a:ext cx="16532860" cy="1174750"/>
          </a:xfrm>
          <a:prstGeom prst="rect">
            <a:avLst/>
          </a:prstGeom>
          <a:ln w="25473">
            <a:solidFill>
              <a:srgbClr val="000000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5020945" marR="3868420" indent="-1136650">
              <a:lnSpc>
                <a:spcPct val="104299"/>
              </a:lnSpc>
              <a:spcBef>
                <a:spcPts val="1235"/>
              </a:spcBef>
            </a:pPr>
            <a:r>
              <a:rPr sz="2650" spc="85" dirty="0">
                <a:solidFill>
                  <a:srgbClr val="111113"/>
                </a:solidFill>
                <a:latin typeface="Arial"/>
                <a:cs typeface="Arial"/>
              </a:rPr>
              <a:t>A</a:t>
            </a:r>
            <a:r>
              <a:rPr sz="2650" spc="-80" dirty="0">
                <a:solidFill>
                  <a:srgbClr val="111113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010101"/>
                </a:solidFill>
                <a:latin typeface="Arial"/>
                <a:cs typeface="Arial"/>
              </a:rPr>
              <a:t>unified</a:t>
            </a:r>
            <a:r>
              <a:rPr sz="2650" spc="-1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111113"/>
                </a:solidFill>
                <a:latin typeface="Arial"/>
                <a:cs typeface="Arial"/>
              </a:rPr>
              <a:t>orchestration</a:t>
            </a:r>
            <a:r>
              <a:rPr sz="2650" spc="229" dirty="0">
                <a:solidFill>
                  <a:srgbClr val="111113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layer</a:t>
            </a:r>
            <a:r>
              <a:rPr sz="2650" spc="114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100" dirty="0">
                <a:solidFill>
                  <a:srgbClr val="111113"/>
                </a:solidFill>
                <a:latin typeface="Arial"/>
                <a:cs typeface="Arial"/>
              </a:rPr>
              <a:t>sitting</a:t>
            </a:r>
            <a:r>
              <a:rPr sz="2650" spc="-35" dirty="0">
                <a:solidFill>
                  <a:srgbClr val="111113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directly</a:t>
            </a:r>
            <a:r>
              <a:rPr sz="2650" spc="17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between</a:t>
            </a:r>
            <a:r>
              <a:rPr sz="2650" spc="-3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-20" dirty="0">
                <a:solidFill>
                  <a:srgbClr val="111113"/>
                </a:solidFill>
                <a:latin typeface="Arial"/>
                <a:cs typeface="Arial"/>
              </a:rPr>
              <a:t>your </a:t>
            </a:r>
            <a:r>
              <a:rPr sz="2650" spc="70" dirty="0">
                <a:solidFill>
                  <a:srgbClr val="010101"/>
                </a:solidFill>
                <a:latin typeface="Arial"/>
                <a:cs typeface="Arial"/>
              </a:rPr>
              <a:t>infrastructure</a:t>
            </a:r>
            <a:r>
              <a:rPr sz="265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spc="70" dirty="0">
                <a:solidFill>
                  <a:srgbClr val="111113"/>
                </a:solidFill>
                <a:latin typeface="Arial"/>
                <a:cs typeface="Arial"/>
              </a:rPr>
              <a:t>and</a:t>
            </a:r>
            <a:r>
              <a:rPr sz="2650" spc="-140" dirty="0">
                <a:solidFill>
                  <a:srgbClr val="111113"/>
                </a:solidFill>
                <a:latin typeface="Arial"/>
                <a:cs typeface="Arial"/>
              </a:rPr>
              <a:t> </a:t>
            </a:r>
            <a:r>
              <a:rPr sz="2650" spc="55" dirty="0">
                <a:solidFill>
                  <a:srgbClr val="262624"/>
                </a:solidFill>
                <a:latin typeface="Arial"/>
                <a:cs typeface="Arial"/>
              </a:rPr>
              <a:t>yo</a:t>
            </a:r>
            <a:r>
              <a:rPr sz="2650" spc="55" dirty="0">
                <a:solidFill>
                  <a:srgbClr val="010101"/>
                </a:solidFill>
                <a:latin typeface="Arial"/>
                <a:cs typeface="Arial"/>
              </a:rPr>
              <a:t>ur</a:t>
            </a:r>
            <a:r>
              <a:rPr sz="2650" spc="-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650" dirty="0">
                <a:solidFill>
                  <a:srgbClr val="111113"/>
                </a:solidFill>
                <a:latin typeface="Arial"/>
                <a:cs typeface="Arial"/>
              </a:rPr>
              <a:t>engineering</a:t>
            </a:r>
            <a:r>
              <a:rPr sz="2650" spc="80" dirty="0">
                <a:solidFill>
                  <a:srgbClr val="111113"/>
                </a:solidFill>
                <a:latin typeface="Arial"/>
                <a:cs typeface="Arial"/>
              </a:rPr>
              <a:t> </a:t>
            </a:r>
            <a:r>
              <a:rPr sz="2650" spc="50" dirty="0">
                <a:solidFill>
                  <a:srgbClr val="010101"/>
                </a:solidFill>
                <a:latin typeface="Arial"/>
                <a:cs typeface="Arial"/>
              </a:rPr>
              <a:t>teams.</a:t>
            </a:r>
            <a:endParaRPr sz="2650" dirty="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085292" y="5757862"/>
            <a:ext cx="3773170" cy="21348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11454" marR="248285" indent="1173480">
              <a:lnSpc>
                <a:spcPct val="101200"/>
              </a:lnSpc>
              <a:spcBef>
                <a:spcPts val="75"/>
              </a:spcBef>
            </a:pPr>
            <a:r>
              <a:rPr sz="2400" b="1" spc="-50" dirty="0">
                <a:solidFill>
                  <a:srgbClr val="010101"/>
                </a:solidFill>
                <a:latin typeface="Arial"/>
                <a:cs typeface="Arial"/>
              </a:rPr>
              <a:t>Step</a:t>
            </a:r>
            <a:r>
              <a:rPr sz="2400" b="1" spc="-14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10101"/>
                </a:solidFill>
                <a:latin typeface="Arial"/>
                <a:cs typeface="Arial"/>
              </a:rPr>
              <a:t>4: </a:t>
            </a:r>
            <a:r>
              <a:rPr sz="2400" b="1" spc="-80" dirty="0">
                <a:solidFill>
                  <a:srgbClr val="010101"/>
                </a:solidFill>
                <a:latin typeface="Arial"/>
                <a:cs typeface="Arial"/>
              </a:rPr>
              <a:t>Automated</a:t>
            </a:r>
            <a:r>
              <a:rPr sz="2400" b="1" spc="-8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400" b="1" spc="-80" dirty="0">
                <a:solidFill>
                  <a:srgbClr val="010101"/>
                </a:solidFill>
                <a:latin typeface="Arial"/>
                <a:cs typeface="Arial"/>
              </a:rPr>
              <a:t>Remediation</a:t>
            </a:r>
            <a:endParaRPr sz="2400" dirty="0">
              <a:latin typeface="Arial"/>
              <a:cs typeface="Arial"/>
            </a:endParaRPr>
          </a:p>
          <a:p>
            <a:pPr marL="12700" marR="5080" indent="-26670" algn="ctr">
              <a:lnSpc>
                <a:spcPct val="98400"/>
              </a:lnSpc>
              <a:spcBef>
                <a:spcPts val="880"/>
              </a:spcBef>
            </a:pPr>
            <a:r>
              <a:rPr sz="2100" spc="-75" dirty="0">
                <a:solidFill>
                  <a:srgbClr val="262624"/>
                </a:solidFill>
                <a:latin typeface="Arial"/>
                <a:cs typeface="Arial"/>
              </a:rPr>
              <a:t>Generates</a:t>
            </a:r>
            <a:r>
              <a:rPr sz="2100" spc="-3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45" dirty="0">
                <a:solidFill>
                  <a:srgbClr val="262624"/>
                </a:solidFill>
                <a:latin typeface="Arial"/>
                <a:cs typeface="Arial"/>
              </a:rPr>
              <a:t>database</a:t>
            </a:r>
            <a:r>
              <a:rPr sz="2100" spc="-11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migration </a:t>
            </a:r>
            <a:r>
              <a:rPr sz="2100" dirty="0">
                <a:solidFill>
                  <a:srgbClr val="262624"/>
                </a:solidFill>
                <a:latin typeface="Arial"/>
                <a:cs typeface="Arial"/>
              </a:rPr>
              <a:t>script,</a:t>
            </a:r>
            <a:r>
              <a:rPr sz="2100" spc="-22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262624"/>
                </a:solidFill>
                <a:latin typeface="Arial"/>
                <a:cs typeface="Arial"/>
              </a:rPr>
              <a:t>opens</a:t>
            </a:r>
            <a:r>
              <a:rPr sz="2100" spc="-10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215" dirty="0">
                <a:solidFill>
                  <a:srgbClr val="262624"/>
                </a:solidFill>
                <a:latin typeface="Arial"/>
                <a:cs typeface="Arial"/>
              </a:rPr>
              <a:t>PR</a:t>
            </a:r>
            <a:r>
              <a:rPr sz="2100" spc="-3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262624"/>
                </a:solidFill>
                <a:latin typeface="Arial"/>
                <a:cs typeface="Arial"/>
              </a:rPr>
              <a:t>via</a:t>
            </a:r>
            <a:r>
              <a:rPr sz="2100" spc="-21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50" dirty="0">
                <a:solidFill>
                  <a:srgbClr val="262624"/>
                </a:solidFill>
                <a:latin typeface="Arial"/>
                <a:cs typeface="Arial"/>
              </a:rPr>
              <a:t>GitHub</a:t>
            </a:r>
            <a:r>
              <a:rPr sz="2100" spc="-9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30" dirty="0">
                <a:solidFill>
                  <a:srgbClr val="262624"/>
                </a:solidFill>
                <a:latin typeface="Arial"/>
                <a:cs typeface="Arial"/>
              </a:rPr>
              <a:t>MCP, </a:t>
            </a:r>
            <a:r>
              <a:rPr sz="2100" spc="-55" dirty="0">
                <a:solidFill>
                  <a:srgbClr val="262624"/>
                </a:solidFill>
                <a:latin typeface="Arial"/>
                <a:cs typeface="Arial"/>
              </a:rPr>
              <a:t>and</a:t>
            </a:r>
            <a:r>
              <a:rPr sz="2100" spc="-15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62624"/>
                </a:solidFill>
                <a:latin typeface="Arial"/>
                <a:cs typeface="Arial"/>
              </a:rPr>
              <a:t>alerts</a:t>
            </a:r>
            <a:r>
              <a:rPr sz="2100" spc="-15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55" dirty="0">
                <a:solidFill>
                  <a:srgbClr val="262624"/>
                </a:solidFill>
                <a:latin typeface="Arial"/>
                <a:cs typeface="Arial"/>
              </a:rPr>
              <a:t>engineer</a:t>
            </a:r>
            <a:r>
              <a:rPr sz="2100" spc="-9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70" dirty="0">
                <a:solidFill>
                  <a:srgbClr val="262624"/>
                </a:solidFill>
                <a:latin typeface="Arial"/>
                <a:cs typeface="Arial"/>
              </a:rPr>
              <a:t>in</a:t>
            </a:r>
            <a:r>
              <a:rPr sz="2100" spc="-22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62624"/>
                </a:solidFill>
                <a:latin typeface="Arial"/>
                <a:cs typeface="Arial"/>
              </a:rPr>
              <a:t>Slack</a:t>
            </a:r>
            <a:r>
              <a:rPr sz="2100" spc="-6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62624"/>
                </a:solidFill>
                <a:latin typeface="Arial"/>
                <a:cs typeface="Arial"/>
              </a:rPr>
              <a:t>for </a:t>
            </a:r>
            <a:r>
              <a:rPr sz="2100" dirty="0">
                <a:solidFill>
                  <a:srgbClr val="262624"/>
                </a:solidFill>
                <a:latin typeface="Arial"/>
                <a:cs typeface="Arial"/>
              </a:rPr>
              <a:t>final</a:t>
            </a:r>
            <a:r>
              <a:rPr sz="2100" spc="-17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262624"/>
                </a:solidFill>
                <a:latin typeface="Arial"/>
                <a:cs typeface="Arial"/>
              </a:rPr>
              <a:t>merge</a:t>
            </a:r>
            <a:r>
              <a:rPr sz="2100" spc="-13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approval.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288409" y="5757862"/>
            <a:ext cx="3034030" cy="18281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685" algn="ctr">
              <a:lnSpc>
                <a:spcPts val="2845"/>
              </a:lnSpc>
              <a:spcBef>
                <a:spcPts val="110"/>
              </a:spcBef>
            </a:pPr>
            <a:r>
              <a:rPr sz="2400" b="1" spc="-50" dirty="0">
                <a:solidFill>
                  <a:srgbClr val="917934"/>
                </a:solidFill>
                <a:latin typeface="Arial"/>
                <a:cs typeface="Arial"/>
              </a:rPr>
              <a:t>Step</a:t>
            </a:r>
            <a:r>
              <a:rPr sz="2400" b="1" spc="-90" dirty="0">
                <a:solidFill>
                  <a:srgbClr val="917934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917934"/>
                </a:solidFill>
                <a:latin typeface="Arial"/>
                <a:cs typeface="Arial"/>
              </a:rPr>
              <a:t>3:</a:t>
            </a:r>
            <a:endParaRPr sz="2400" dirty="0">
              <a:latin typeface="Arial"/>
              <a:cs typeface="Arial"/>
            </a:endParaRPr>
          </a:p>
          <a:p>
            <a:pPr marR="635" algn="ctr">
              <a:lnSpc>
                <a:spcPts val="2845"/>
              </a:lnSpc>
            </a:pPr>
            <a:r>
              <a:rPr sz="2400" b="1" spc="-100" dirty="0">
                <a:solidFill>
                  <a:srgbClr val="917934"/>
                </a:solidFill>
                <a:latin typeface="Arial"/>
                <a:cs typeface="Arial"/>
              </a:rPr>
              <a:t>Root</a:t>
            </a:r>
            <a:r>
              <a:rPr sz="2400" b="1" spc="-55" dirty="0">
                <a:solidFill>
                  <a:srgbClr val="917934"/>
                </a:solidFill>
                <a:latin typeface="Arial"/>
                <a:cs typeface="Arial"/>
              </a:rPr>
              <a:t> </a:t>
            </a:r>
            <a:r>
              <a:rPr sz="2400" b="1" spc="-100" dirty="0">
                <a:solidFill>
                  <a:srgbClr val="917934"/>
                </a:solidFill>
                <a:latin typeface="Arial"/>
                <a:cs typeface="Arial"/>
              </a:rPr>
              <a:t>Cause</a:t>
            </a:r>
            <a:r>
              <a:rPr sz="2400" b="1" spc="-70" dirty="0">
                <a:solidFill>
                  <a:srgbClr val="917934"/>
                </a:solidFill>
                <a:latin typeface="Arial"/>
                <a:cs typeface="Arial"/>
              </a:rPr>
              <a:t> </a:t>
            </a:r>
            <a:r>
              <a:rPr sz="2400" b="1" spc="-80" dirty="0">
                <a:solidFill>
                  <a:srgbClr val="917934"/>
                </a:solidFill>
                <a:latin typeface="Arial"/>
                <a:cs typeface="Arial"/>
              </a:rPr>
              <a:t>Diagnosis</a:t>
            </a:r>
            <a:endParaRPr sz="2400" dirty="0">
              <a:latin typeface="Arial"/>
              <a:cs typeface="Arial"/>
            </a:endParaRPr>
          </a:p>
          <a:p>
            <a:pPr marL="35560" marR="5080" algn="ctr">
              <a:lnSpc>
                <a:spcPct val="100000"/>
              </a:lnSpc>
              <a:spcBef>
                <a:spcPts val="940"/>
              </a:spcBef>
            </a:pP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Identifies</a:t>
            </a:r>
            <a:r>
              <a:rPr sz="2100" spc="-13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62624"/>
                </a:solidFill>
                <a:latin typeface="Arial"/>
                <a:cs typeface="Arial"/>
              </a:rPr>
              <a:t>missing</a:t>
            </a:r>
            <a:r>
              <a:rPr sz="2100" spc="-13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30" dirty="0">
                <a:solidFill>
                  <a:srgbClr val="262624"/>
                </a:solidFill>
                <a:latin typeface="Arial"/>
                <a:cs typeface="Arial"/>
              </a:rPr>
              <a:t>index</a:t>
            </a:r>
            <a:r>
              <a:rPr sz="2100" spc="-15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40" dirty="0">
                <a:solidFill>
                  <a:srgbClr val="262624"/>
                </a:solidFill>
                <a:latin typeface="Arial"/>
                <a:cs typeface="Arial"/>
              </a:rPr>
              <a:t>in </a:t>
            </a:r>
            <a:r>
              <a:rPr sz="2100" spc="-85" dirty="0">
                <a:solidFill>
                  <a:srgbClr val="262624"/>
                </a:solidFill>
                <a:latin typeface="Arial"/>
                <a:cs typeface="Arial"/>
              </a:rPr>
              <a:t>PostgreSQL</a:t>
            </a:r>
            <a:r>
              <a:rPr sz="2100" spc="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40" dirty="0">
                <a:solidFill>
                  <a:srgbClr val="262624"/>
                </a:solidFill>
                <a:latin typeface="Arial"/>
                <a:cs typeface="Arial"/>
              </a:rPr>
              <a:t>via</a:t>
            </a:r>
            <a:r>
              <a:rPr sz="2100" spc="-8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specific </a:t>
            </a:r>
            <a:r>
              <a:rPr sz="2100" spc="-35" dirty="0">
                <a:solidFill>
                  <a:srgbClr val="262624"/>
                </a:solidFill>
                <a:latin typeface="Arial"/>
                <a:cs typeface="Arial"/>
              </a:rPr>
              <a:t>error</a:t>
            </a:r>
            <a:r>
              <a:rPr sz="2100" spc="-10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2100" spc="-20" dirty="0">
                <a:solidFill>
                  <a:srgbClr val="262624"/>
                </a:solidFill>
                <a:latin typeface="Arial"/>
                <a:cs typeface="Arial"/>
              </a:rPr>
              <a:t>ogs.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56048" y="5757862"/>
            <a:ext cx="3718560" cy="182816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453390" marR="469265" indent="920115">
              <a:lnSpc>
                <a:spcPct val="101200"/>
              </a:lnSpc>
              <a:spcBef>
                <a:spcPts val="75"/>
              </a:spcBef>
            </a:pPr>
            <a:r>
              <a:rPr sz="2400" b="1" spc="-65" dirty="0">
                <a:solidFill>
                  <a:srgbClr val="010101"/>
                </a:solidFill>
                <a:latin typeface="Arial"/>
                <a:cs typeface="Arial"/>
              </a:rPr>
              <a:t>Step</a:t>
            </a:r>
            <a:r>
              <a:rPr sz="2400" b="1" spc="-95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400" b="1" spc="25" dirty="0">
                <a:solidFill>
                  <a:srgbClr val="010101"/>
                </a:solidFill>
                <a:latin typeface="Arial"/>
                <a:cs typeface="Arial"/>
              </a:rPr>
              <a:t>2</a:t>
            </a:r>
            <a:r>
              <a:rPr sz="2400" b="1" spc="25" dirty="0">
                <a:solidFill>
                  <a:srgbClr val="262624"/>
                </a:solidFill>
                <a:latin typeface="Arial"/>
                <a:cs typeface="Arial"/>
              </a:rPr>
              <a:t>: </a:t>
            </a:r>
            <a:r>
              <a:rPr sz="2400" b="1" spc="-80" dirty="0">
                <a:solidFill>
                  <a:srgbClr val="010101"/>
                </a:solidFill>
                <a:latin typeface="Arial"/>
                <a:cs typeface="Arial"/>
              </a:rPr>
              <a:t>Contextual</a:t>
            </a:r>
            <a:r>
              <a:rPr sz="2400" b="1" spc="-90" dirty="0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sz="2400" b="1" spc="-105" dirty="0">
                <a:solidFill>
                  <a:srgbClr val="010101"/>
                </a:solidFill>
                <a:latin typeface="Arial"/>
                <a:cs typeface="Arial"/>
              </a:rPr>
              <a:t>Querying</a:t>
            </a:r>
            <a:endParaRPr sz="2400" dirty="0">
              <a:latin typeface="Arial"/>
              <a:cs typeface="Arial"/>
            </a:endParaRPr>
          </a:p>
          <a:p>
            <a:pPr marL="12700" marR="5080" indent="-17780" algn="ctr">
              <a:lnSpc>
                <a:spcPct val="97700"/>
              </a:lnSpc>
              <a:spcBef>
                <a:spcPts val="1000"/>
              </a:spcBef>
            </a:pPr>
            <a:r>
              <a:rPr sz="2100" spc="-20" dirty="0">
                <a:solidFill>
                  <a:srgbClr val="262624"/>
                </a:solidFill>
                <a:latin typeface="Arial"/>
                <a:cs typeface="Arial"/>
              </a:rPr>
              <a:t>Agentic</a:t>
            </a:r>
            <a:r>
              <a:rPr sz="2100" spc="-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010101"/>
                </a:solidFill>
                <a:latin typeface="Arial"/>
                <a:cs typeface="Arial"/>
              </a:rPr>
              <a:t>l</a:t>
            </a:r>
            <a:r>
              <a:rPr sz="2100" dirty="0">
                <a:solidFill>
                  <a:srgbClr val="262624"/>
                </a:solidFill>
                <a:latin typeface="Arial"/>
                <a:cs typeface="Arial"/>
              </a:rPr>
              <a:t>oop</a:t>
            </a:r>
            <a:r>
              <a:rPr sz="2100" spc="-18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autonomously </a:t>
            </a:r>
            <a:r>
              <a:rPr sz="2100" spc="-35" dirty="0">
                <a:solidFill>
                  <a:srgbClr val="262624"/>
                </a:solidFill>
                <a:latin typeface="Arial"/>
                <a:cs typeface="Arial"/>
              </a:rPr>
              <a:t>queries</a:t>
            </a:r>
            <a:r>
              <a:rPr sz="2100" spc="-10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Loki</a:t>
            </a:r>
            <a:r>
              <a:rPr sz="2100" spc="-13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5" dirty="0">
                <a:solidFill>
                  <a:srgbClr val="262624"/>
                </a:solidFill>
                <a:latin typeface="Arial"/>
                <a:cs typeface="Arial"/>
              </a:rPr>
              <a:t>and</a:t>
            </a:r>
            <a:r>
              <a:rPr sz="2100" spc="-18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VictoriaMetr</a:t>
            </a:r>
            <a:r>
              <a:rPr sz="2100" spc="-10" dirty="0">
                <a:solidFill>
                  <a:srgbClr val="424242"/>
                </a:solidFill>
                <a:latin typeface="Arial"/>
                <a:cs typeface="Arial"/>
              </a:rPr>
              <a:t>i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cs </a:t>
            </a:r>
            <a:r>
              <a:rPr sz="2100" spc="65" dirty="0">
                <a:solidFill>
                  <a:srgbClr val="262624"/>
                </a:solidFill>
                <a:latin typeface="Arial"/>
                <a:cs typeface="Arial"/>
              </a:rPr>
              <a:t>to</a:t>
            </a:r>
            <a:r>
              <a:rPr sz="2100" spc="-195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262624"/>
                </a:solidFill>
                <a:latin typeface="Arial"/>
                <a:cs typeface="Arial"/>
              </a:rPr>
              <a:t>confirm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262624"/>
                </a:solidFill>
                <a:latin typeface="Arial"/>
                <a:cs typeface="Arial"/>
              </a:rPr>
              <a:t>latency</a:t>
            </a:r>
            <a:r>
              <a:rPr sz="2100" spc="-30" dirty="0">
                <a:solidFill>
                  <a:srgbClr val="262624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262624"/>
                </a:solidFill>
                <a:latin typeface="Arial"/>
                <a:cs typeface="Arial"/>
              </a:rPr>
              <a:t>spike.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29" name="object 2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8858" rIns="0" bIns="0" rtlCol="0">
            <a:spAutoFit/>
          </a:bodyPr>
          <a:lstStyle/>
          <a:p>
            <a:pPr marL="1791335">
              <a:lnSpc>
                <a:spcPct val="100000"/>
              </a:lnSpc>
              <a:spcBef>
                <a:spcPts val="125"/>
              </a:spcBef>
            </a:pPr>
            <a:r>
              <a:rPr spc="85" dirty="0"/>
              <a:t>Synthesis:</a:t>
            </a:r>
            <a:r>
              <a:rPr spc="-70" dirty="0"/>
              <a:t> </a:t>
            </a:r>
            <a:r>
              <a:rPr dirty="0"/>
              <a:t>Zero-Touch</a:t>
            </a:r>
            <a:r>
              <a:rPr spc="60" dirty="0"/>
              <a:t> </a:t>
            </a:r>
            <a:r>
              <a:rPr spc="65" dirty="0"/>
              <a:t>Triage</a:t>
            </a:r>
            <a:r>
              <a:rPr spc="-185" dirty="0"/>
              <a:t> </a:t>
            </a:r>
            <a:r>
              <a:rPr spc="95" dirty="0"/>
              <a:t>Architecture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4E41D9E-02B9-4B46-B8AE-6FFDC719047C}"/>
              </a:ext>
            </a:extLst>
          </p:cNvPr>
          <p:cNvSpPr txBox="1"/>
          <p:nvPr/>
        </p:nvSpPr>
        <p:spPr>
          <a:xfrm>
            <a:off x="7289800" y="518160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800" b="1" spc="125" dirty="0">
                <a:solidFill>
                  <a:schemeClr val="tx1"/>
                </a:solidFill>
                <a:latin typeface="Arial"/>
                <a:cs typeface="Arial"/>
              </a:rPr>
              <a:t>24/7</a:t>
            </a:r>
            <a:r>
              <a:rPr lang="en-US" sz="1800" b="1" spc="-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Arial"/>
                <a:cs typeface="Arial"/>
              </a:rPr>
              <a:t>Operator</a:t>
            </a:r>
            <a:r>
              <a:rPr lang="en-US" sz="1800" b="1" spc="-5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800" b="1" spc="55" dirty="0">
                <a:solidFill>
                  <a:schemeClr val="tx1"/>
                </a:solidFill>
                <a:latin typeface="Arial"/>
                <a:cs typeface="Arial"/>
              </a:rPr>
              <a:t>Mode</a:t>
            </a:r>
            <a:endParaRPr lang="en-US" sz="18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446</Words>
  <Application>Microsoft Office PowerPoint</Application>
  <PresentationFormat>Custom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UpTimeEngine</vt:lpstr>
      <vt:lpstr>A Layered, Agentic Investigation Platform</vt:lpstr>
      <vt:lpstr>The Operator Mode Paradigm</vt:lpstr>
      <vt:lpstr>The Agentic Investigation Loop</vt:lpstr>
      <vt:lpstr>PowerPoint Presentation</vt:lpstr>
      <vt:lpstr>PowerPoint Presentation</vt:lpstr>
      <vt:lpstr>PowerPoint Presentation</vt:lpstr>
      <vt:lpstr>The Enterprise Architecture Stack</vt:lpstr>
      <vt:lpstr>Memory-Safe Execution at Petabyte Scale</vt:lpstr>
      <vt:lpstr>Zero-Trust Deployment &amp; Enterprise Safeguards</vt:lpstr>
      <vt:lpstr>Synthesis: Zero-Touch Triage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UpTimeEngine</dc:title>
  <cp:lastModifiedBy>Devi Eadala</cp:lastModifiedBy>
  <cp:revision>9</cp:revision>
  <dcterms:created xsi:type="dcterms:W3CDTF">2026-10-12T02:56:47Z</dcterms:created>
  <dcterms:modified xsi:type="dcterms:W3CDTF">2026-10-12T03:28:32Z</dcterms:modified>
</cp:coreProperties>
</file>